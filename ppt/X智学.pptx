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7" name="矩形 6" descr="7b0a2020202022776f7264617274223a2022220a7d0a"/>
          <p:cNvSpPr/>
          <p:nvPr userDrawn="1"/>
        </p:nvSpPr>
        <p:spPr>
          <a:xfrm>
            <a:off x="6922770" y="5541645"/>
            <a:ext cx="1764030" cy="584835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r>
              <a:rPr lang="en-US" altLang="zh-CN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汉仪锐智简" panose="00020600040101010101" charset="-122"/>
                <a:ea typeface="汉仪锐智简" panose="00020600040101010101" charset="-122"/>
              </a:rPr>
              <a:t>X</a:t>
            </a:r>
            <a:r>
              <a:rPr lang="zh-CN" altLang="en-US" sz="2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汉仪锐智简" panose="00020600040101010101" charset="-122"/>
                <a:ea typeface="汉仪锐智简" panose="00020600040101010101" charset="-122"/>
              </a:rPr>
              <a:t>智学</a:t>
            </a:r>
            <a:endParaRPr lang="zh-CN" altLang="en-US" sz="28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汉仪锐智简" panose="00020600040101010101" charset="-122"/>
              <a:ea typeface="汉仪锐智简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33.png"/><Relationship Id="rId12" Type="http://schemas.openxmlformats.org/officeDocument/2006/relationships/image" Target="../media/image32.png"/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46.png"/><Relationship Id="rId12" Type="http://schemas.openxmlformats.org/officeDocument/2006/relationships/image" Target="../media/image45.png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1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png"/><Relationship Id="rId8" Type="http://schemas.openxmlformats.org/officeDocument/2006/relationships/image" Target="../media/image54.png"/><Relationship Id="rId7" Type="http://schemas.openxmlformats.org/officeDocument/2006/relationships/image" Target="../media/image53.png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6.png"/><Relationship Id="rId1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png"/><Relationship Id="rId8" Type="http://schemas.openxmlformats.org/officeDocument/2006/relationships/image" Target="../media/image64.png"/><Relationship Id="rId7" Type="http://schemas.openxmlformats.org/officeDocument/2006/relationships/image" Target="../media/image63.png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71.png"/><Relationship Id="rId14" Type="http://schemas.openxmlformats.org/officeDocument/2006/relationships/image" Target="../media/image70.png"/><Relationship Id="rId13" Type="http://schemas.openxmlformats.org/officeDocument/2006/relationships/image" Target="../media/image69.png"/><Relationship Id="rId12" Type="http://schemas.openxmlformats.org/officeDocument/2006/relationships/image" Target="../media/image68.png"/><Relationship Id="rId11" Type="http://schemas.openxmlformats.org/officeDocument/2006/relationships/image" Target="../media/image67.png"/><Relationship Id="rId10" Type="http://schemas.openxmlformats.org/officeDocument/2006/relationships/image" Target="../media/image66.png"/><Relationship Id="rId1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png"/><Relationship Id="rId8" Type="http://schemas.openxmlformats.org/officeDocument/2006/relationships/image" Target="../media/image79.png"/><Relationship Id="rId7" Type="http://schemas.openxmlformats.org/officeDocument/2006/relationships/image" Target="../media/image78.png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81.png"/><Relationship Id="rId1" Type="http://schemas.openxmlformats.org/officeDocument/2006/relationships/image" Target="../media/image7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png"/><Relationship Id="rId8" Type="http://schemas.openxmlformats.org/officeDocument/2006/relationships/image" Target="../media/image89.png"/><Relationship Id="rId7" Type="http://schemas.openxmlformats.org/officeDocument/2006/relationships/image" Target="../media/image88.png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91.png"/><Relationship Id="rId1" Type="http://schemas.openxmlformats.org/officeDocument/2006/relationships/image" Target="../media/image8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png"/><Relationship Id="rId8" Type="http://schemas.openxmlformats.org/officeDocument/2006/relationships/image" Target="../media/image104.png"/><Relationship Id="rId7" Type="http://schemas.openxmlformats.org/officeDocument/2006/relationships/image" Target="../media/image103.png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14.png"/><Relationship Id="rId17" Type="http://schemas.openxmlformats.org/officeDocument/2006/relationships/image" Target="../media/image113.png"/><Relationship Id="rId16" Type="http://schemas.openxmlformats.org/officeDocument/2006/relationships/image" Target="../media/image112.png"/><Relationship Id="rId15" Type="http://schemas.openxmlformats.org/officeDocument/2006/relationships/image" Target="../media/image111.png"/><Relationship Id="rId14" Type="http://schemas.openxmlformats.org/officeDocument/2006/relationships/image" Target="../media/image110.png"/><Relationship Id="rId13" Type="http://schemas.openxmlformats.org/officeDocument/2006/relationships/image" Target="../media/image109.png"/><Relationship Id="rId12" Type="http://schemas.openxmlformats.org/officeDocument/2006/relationships/image" Target="../media/image108.png"/><Relationship Id="rId11" Type="http://schemas.openxmlformats.org/officeDocument/2006/relationships/image" Target="../media/image107.png"/><Relationship Id="rId10" Type="http://schemas.openxmlformats.org/officeDocument/2006/relationships/image" Target="../media/image106.png"/><Relationship Id="rId1" Type="http://schemas.openxmlformats.org/officeDocument/2006/relationships/image" Target="../media/image9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70" y="0"/>
            <a:ext cx="12192000" cy="6858000"/>
          </a:xfrm>
          <a:prstGeom prst="rect">
            <a:avLst/>
          </a:prstGeom>
          <a:solidFill>
            <a:srgbClr val="FEFBF3"/>
          </a:solidFill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9111" y="0"/>
            <a:ext cx="2082734" cy="9795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" y="5848350"/>
            <a:ext cx="1619250" cy="1009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712" y="5185600"/>
            <a:ext cx="470995" cy="45672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896" y="1282412"/>
            <a:ext cx="467296" cy="4434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3418" y="2426303"/>
            <a:ext cx="9275921" cy="96440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0" b="1" i="0">
                <a:solidFill>
                  <a:srgbClr val="481B01">
                    <a:alpha val="100000"/>
                  </a:srgbClr>
                </a:solidFill>
                <a:latin typeface="Noto Sans SC"/>
                <a:ea typeface="Noto Sans SC"/>
                <a:cs typeface="+mn-cs"/>
              </a:rPr>
              <a:t>智能</a:t>
            </a:r>
            <a:r>
              <a:rPr sz="7200" b="1" i="0">
                <a:solidFill>
                  <a:srgbClr val="481B01">
                    <a:alpha val="100000"/>
                  </a:srgbClr>
                </a:solidFill>
                <a:latin typeface="Noto Sans SC"/>
                <a:ea typeface="Noto Sans SC"/>
                <a:cs typeface="+mn-cs"/>
              </a:rPr>
              <a:t>AI学习平台</a:t>
            </a:r>
            <a:endParaRPr sz="7200" b="1" i="0">
              <a:solidFill>
                <a:srgbClr val="481B01">
                  <a:alpha val="100000"/>
                </a:srgbClr>
              </a:solidFill>
              <a:latin typeface="Noto Sans SC"/>
              <a:ea typeface="Noto Sans SC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18588" y="3843051"/>
            <a:ext cx="7296150" cy="61074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3900" b="0" i="0">
                <a:solidFill>
                  <a:srgbClr val="40312B"/>
                </a:solidFill>
                <a:latin typeface="Noto Sans SC" panose="020B0500000000000000" charset="-122"/>
                <a:ea typeface="Noto Sans SC" panose="020B0500000000000000" charset="-122"/>
              </a:rPr>
              <a:t>基于多Agent架构的智能学习系统</a:t>
            </a:r>
            <a:endParaRPr sz="3900" b="0" i="0">
              <a:solidFill>
                <a:srgbClr val="40312B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9" name="矩形 9"/>
          <p:cNvSpPr/>
          <p:nvPr/>
        </p:nvSpPr>
        <p:spPr>
          <a:xfrm>
            <a:off x="11091545" y="6275070"/>
            <a:ext cx="1100455" cy="5829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endParaRPr lang="zh-CN" altLang="en-US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4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2512" y="2100357"/>
            <a:ext cx="3395228" cy="3733323"/>
          </a:xfrm>
          <a:prstGeom prst="rect">
            <a:avLst/>
          </a:prstGeom>
        </p:spPr>
      </p:pic>
      <p:pic>
        <p:nvPicPr>
          <p:cNvPr id="75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48" y="2102072"/>
            <a:ext cx="3398079" cy="3726465"/>
          </a:xfrm>
          <a:prstGeom prst="rect">
            <a:avLst/>
          </a:prstGeom>
        </p:spPr>
      </p:pic>
      <p:pic>
        <p:nvPicPr>
          <p:cNvPr id="76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983" y="2099578"/>
            <a:ext cx="3392138" cy="3725166"/>
          </a:xfrm>
          <a:prstGeom prst="rect">
            <a:avLst/>
          </a:prstGeom>
        </p:spPr>
      </p:pic>
      <p:sp>
        <p:nvSpPr>
          <p:cNvPr id="77" name="TextBox 5"/>
          <p:cNvSpPr txBox="1"/>
          <p:nvPr/>
        </p:nvSpPr>
        <p:spPr>
          <a:xfrm>
            <a:off x="745902" y="748569"/>
            <a:ext cx="9498615" cy="70723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50" b="1" i="0">
                <a:solidFill>
                  <a:srgbClr val="270000"/>
                </a:solidFill>
                <a:latin typeface="Noto Sans SC" panose="020B0500000000000000" charset="-122"/>
                <a:ea typeface="Noto Sans SC" panose="020B0500000000000000" charset="-122"/>
              </a:rPr>
              <a:t>解决痛点:传统教育的三大困境</a:t>
            </a:r>
            <a:endParaRPr sz="5550" b="1" i="0">
              <a:solidFill>
                <a:srgbClr val="27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78" name="TextBox 6"/>
          <p:cNvSpPr txBox="1"/>
          <p:nvPr/>
        </p:nvSpPr>
        <p:spPr>
          <a:xfrm>
            <a:off x="1630965" y="2438590"/>
            <a:ext cx="1680210" cy="10616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75" b="1" i="0">
                <a:solidFill>
                  <a:srgbClr val="230000"/>
                </a:solidFill>
                <a:latin typeface="Noto Sans SC" panose="020B0500000000000000" charset="-122"/>
                <a:ea typeface="Noto Sans SC" panose="020B0500000000000000" charset="-122"/>
              </a:rPr>
              <a:t>千人一面</a:t>
            </a:r>
            <a:endParaRPr sz="3075" b="1" i="0">
              <a:solidFill>
                <a:srgbClr val="2300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234950">
              <a:spcBef>
                <a:spcPts val="1525"/>
              </a:spcBef>
            </a:pPr>
            <a:r>
              <a:rPr lang="zh-CN" sz="3075" b="1">
                <a:latin typeface="Noto Sans SC" panose="020B0500000000000000" charset="-122"/>
                <a:ea typeface="Noto Sans SC" panose="020B0500000000000000" charset="-122"/>
              </a:rPr>
              <a:t>痛点一</a:t>
            </a:r>
            <a:endParaRPr lang="zh-CN" sz="3075" b="1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79" name="TextBox 7"/>
          <p:cNvSpPr txBox="1"/>
          <p:nvPr/>
        </p:nvSpPr>
        <p:spPr>
          <a:xfrm>
            <a:off x="5265134" y="2438590"/>
            <a:ext cx="1680210" cy="10616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75" b="1" i="0">
                <a:solidFill>
                  <a:srgbClr val="2A0A05"/>
                </a:solidFill>
                <a:latin typeface="Noto Sans SC" panose="020B0500000000000000" charset="-122"/>
                <a:ea typeface="Noto Sans SC" panose="020B0500000000000000" charset="-122"/>
              </a:rPr>
              <a:t>资源匮乏</a:t>
            </a:r>
            <a:endParaRPr sz="3075" b="1" i="0">
              <a:solidFill>
                <a:srgbClr val="2A0A05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264795">
              <a:spcBef>
                <a:spcPts val="1525"/>
              </a:spcBef>
            </a:pPr>
            <a:r>
              <a:rPr lang="zh-CN" sz="3075" b="1">
                <a:latin typeface="Noto Sans SC" panose="020B0500000000000000" charset="-122"/>
                <a:ea typeface="Noto Sans SC" panose="020B0500000000000000" charset="-122"/>
              </a:rPr>
              <a:t>痛点二</a:t>
            </a:r>
            <a:endParaRPr lang="zh-CN" sz="3075" b="1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80" name="TextBox 8"/>
          <p:cNvSpPr txBox="1"/>
          <p:nvPr/>
        </p:nvSpPr>
        <p:spPr>
          <a:xfrm>
            <a:off x="8928544" y="2438590"/>
            <a:ext cx="1720215" cy="10616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10" b="1" i="0">
                <a:solidFill>
                  <a:srgbClr val="230100"/>
                </a:solidFill>
                <a:latin typeface="Noto Sans SC" panose="020B0500000000000000" charset="-122"/>
                <a:ea typeface="Noto Sans SC" panose="020B0500000000000000" charset="-122"/>
              </a:rPr>
              <a:t>效率低下</a:t>
            </a:r>
            <a:endParaRPr sz="3110" b="1" i="0">
              <a:solidFill>
                <a:srgbClr val="2301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264795">
              <a:spcBef>
                <a:spcPts val="1525"/>
              </a:spcBef>
            </a:pPr>
            <a:r>
              <a:rPr lang="zh-CN" sz="3110" b="1">
                <a:latin typeface="Noto Sans SC" panose="020B0500000000000000" charset="-122"/>
                <a:ea typeface="Noto Sans SC" panose="020B0500000000000000" charset="-122"/>
              </a:rPr>
              <a:t>痛点三</a:t>
            </a:r>
            <a:endParaRPr lang="zh-CN" sz="3110" b="1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81" name="TextBox 9"/>
          <p:cNvSpPr txBox="1"/>
          <p:nvPr/>
        </p:nvSpPr>
        <p:spPr>
          <a:xfrm>
            <a:off x="4886325" y="3696081"/>
            <a:ext cx="2587823" cy="99507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D111E"/>
                </a:solidFill>
                <a:latin typeface="Noto Sans SC" panose="020B0500000000000000" charset="-122"/>
                <a:ea typeface="Noto Sans SC" panose="020B0500000000000000" charset="-122"/>
              </a:rPr>
              <a:t>优质教师资源分布不均,</a:t>
            </a:r>
            <a:endParaRPr sz="1875" b="0" i="0">
              <a:solidFill>
                <a:srgbClr val="0D111E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635"/>
            <a:r>
              <a:rPr lang="zh-CN" sz="1875">
                <a:latin typeface="Noto Sans SC" panose="020B0500000000000000" charset="-122"/>
                <a:ea typeface="Noto Sans SC" panose="020B0500000000000000" charset="-122"/>
              </a:rPr>
              <a:t>个性化辅导成本高昂,</a:t>
            </a:r>
            <a:endParaRPr lang="zh-CN" sz="1875">
              <a:latin typeface="Noto Sans SC" panose="020B0500000000000000" charset="-122"/>
              <a:ea typeface="Noto Sans SC" panose="020B0500000000000000" charset="-122"/>
            </a:endParaRPr>
          </a:p>
          <a:p>
            <a:pPr marL="1270">
              <a:spcBef>
                <a:spcPts val="365"/>
              </a:spcBef>
            </a:pPr>
            <a:r>
              <a:rPr lang="zh-CN" sz="1875">
                <a:latin typeface="Noto Sans SC" panose="020B0500000000000000" charset="-122"/>
                <a:ea typeface="Noto Sans SC" panose="020B0500000000000000" charset="-122"/>
              </a:rPr>
              <a:t>偏远地区学生难以获得</a:t>
            </a:r>
            <a:endParaRPr lang="zh-CN" sz="1875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82" name="TextBox 10"/>
          <p:cNvSpPr txBox="1"/>
          <p:nvPr/>
        </p:nvSpPr>
        <p:spPr>
          <a:xfrm>
            <a:off x="1165669" y="3697700"/>
            <a:ext cx="2794849" cy="133169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910" b="0" i="0">
                <a:solidFill>
                  <a:srgbClr val="0C111F"/>
                </a:solidFill>
                <a:latin typeface="Noto Sans SC" panose="020B0500000000000000" charset="-122"/>
                <a:ea typeface="Noto Sans SC" panose="020B0500000000000000" charset="-122"/>
              </a:rPr>
              <a:t>传统教育采用统一教学进</a:t>
            </a:r>
            <a:endParaRPr sz="1910" b="0" i="0">
              <a:solidFill>
                <a:srgbClr val="0C111F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29210">
              <a:spcBef>
                <a:spcPts val="615"/>
              </a:spcBef>
            </a:pPr>
            <a:r>
              <a:rPr lang="zh-CN" sz="1910">
                <a:latin typeface="Noto Sans SC" panose="020B0500000000000000" charset="-122"/>
                <a:ea typeface="Noto Sans SC" panose="020B0500000000000000" charset="-122"/>
              </a:rPr>
              <a:t>度和内容,无法兼顾不同</a:t>
            </a:r>
            <a:endParaRPr lang="zh-CN" sz="1910">
              <a:latin typeface="Noto Sans SC" panose="020B0500000000000000" charset="-122"/>
              <a:ea typeface="Noto Sans SC" panose="020B0500000000000000" charset="-122"/>
            </a:endParaRPr>
          </a:p>
          <a:p>
            <a:pPr marL="28575">
              <a:spcBef>
                <a:spcPts val="365"/>
              </a:spcBef>
            </a:pPr>
            <a:r>
              <a:rPr lang="zh-CN" sz="1910">
                <a:latin typeface="Noto Sans SC" panose="020B0500000000000000" charset="-122"/>
                <a:ea typeface="Noto Sans SC" panose="020B0500000000000000" charset="-122"/>
              </a:rPr>
              <a:t>学生的学习能力和节奏</a:t>
            </a:r>
            <a:endParaRPr lang="zh-CN" sz="1910">
              <a:latin typeface="Noto Sans SC" panose="020B0500000000000000" charset="-122"/>
              <a:ea typeface="Noto Sans SC" panose="020B0500000000000000" charset="-122"/>
            </a:endParaRPr>
          </a:p>
          <a:p>
            <a:pPr marL="27940"/>
            <a:r>
              <a:rPr lang="zh-CN" sz="1910">
                <a:latin typeface="Noto Sans SC" panose="020B0500000000000000" charset="-122"/>
                <a:ea typeface="Noto Sans SC" panose="020B0500000000000000" charset="-122"/>
              </a:rPr>
              <a:t>导致学不会或吃不饱的问</a:t>
            </a:r>
            <a:endParaRPr lang="zh-CN" sz="191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83" name="TextBox 11"/>
          <p:cNvSpPr txBox="1"/>
          <p:nvPr/>
        </p:nvSpPr>
        <p:spPr>
          <a:xfrm>
            <a:off x="8551259" y="3697700"/>
            <a:ext cx="2445734" cy="9934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87630" algn="just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A0E1B"/>
                </a:solidFill>
                <a:latin typeface="Noto Sans SC" panose="020B0500000000000000" charset="-122"/>
                <a:ea typeface="Noto Sans SC" panose="020B0500000000000000" charset="-122"/>
              </a:rPr>
              <a:t>学习路径缺乏科学规范</a:t>
            </a:r>
            <a:endParaRPr sz="1950" b="0" i="0">
              <a:solidFill>
                <a:srgbClr val="0A0E1B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85725">
              <a:spcBef>
                <a:spcPts val="485"/>
              </a:spcBef>
            </a:pPr>
            <a:r>
              <a:rPr lang="zh-CN" sz="1950">
                <a:latin typeface="Noto Sans SC" panose="020B0500000000000000" charset="-122"/>
                <a:ea typeface="Noto Sans SC" panose="020B0500000000000000" charset="-122"/>
              </a:rPr>
              <a:t>划,答疑响应不及时</a:t>
            </a:r>
            <a:endParaRPr lang="zh-CN" sz="1950"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255"/>
              </a:spcBef>
            </a:pPr>
            <a:r>
              <a:rPr lang="zh-CN" sz="1950">
                <a:latin typeface="Noto Sans SC" panose="020B0500000000000000" charset="-122"/>
                <a:ea typeface="Noto Sans SC" panose="020B0500000000000000" charset="-122"/>
              </a:rPr>
              <a:t>学习效果难以量化评估</a:t>
            </a:r>
            <a:endParaRPr lang="zh-CN" sz="195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84" name="TextBox 12"/>
          <p:cNvSpPr txBox="1"/>
          <p:nvPr/>
        </p:nvSpPr>
        <p:spPr>
          <a:xfrm>
            <a:off x="5502497" y="4737830"/>
            <a:ext cx="1245584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D111E"/>
                </a:solidFill>
                <a:latin typeface="Noto Sans SC" panose="020B0500000000000000" charset="-122"/>
                <a:ea typeface="Noto Sans SC" panose="020B0500000000000000" charset="-122"/>
              </a:rPr>
              <a:t>高质量教育</a:t>
            </a:r>
            <a:endParaRPr sz="1875" b="0" i="0">
              <a:solidFill>
                <a:srgbClr val="0D111E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85" name="TextBox 13"/>
          <p:cNvSpPr txBox="1"/>
          <p:nvPr/>
        </p:nvSpPr>
        <p:spPr>
          <a:xfrm>
            <a:off x="1927669" y="5105971"/>
            <a:ext cx="121481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C111F"/>
                </a:solidFill>
                <a:latin typeface="Noto Sans SC" panose="020B0500000000000000" charset="-122"/>
                <a:ea typeface="Noto Sans SC" panose="020B0500000000000000" charset="-122"/>
              </a:rPr>
              <a:t>题普遍存在</a:t>
            </a:r>
            <a:endParaRPr sz="1800" b="0" i="0">
              <a:solidFill>
                <a:srgbClr val="0C111F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8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92" y="4296918"/>
            <a:ext cx="3533492" cy="2201894"/>
          </a:xfrm>
          <a:prstGeom prst="rect">
            <a:avLst/>
          </a:prstGeom>
        </p:spPr>
      </p:pic>
      <p:pic>
        <p:nvPicPr>
          <p:cNvPr id="89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788" y="4303926"/>
            <a:ext cx="3553110" cy="2190925"/>
          </a:xfrm>
          <a:prstGeom prst="rect">
            <a:avLst/>
          </a:prstGeom>
        </p:spPr>
      </p:pic>
      <p:pic>
        <p:nvPicPr>
          <p:cNvPr id="90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927" y="1720975"/>
            <a:ext cx="3468243" cy="2188466"/>
          </a:xfrm>
          <a:prstGeom prst="rect">
            <a:avLst/>
          </a:prstGeom>
        </p:spPr>
      </p:pic>
      <p:pic>
        <p:nvPicPr>
          <p:cNvPr id="91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1721081"/>
            <a:ext cx="3447573" cy="2190446"/>
          </a:xfrm>
          <a:prstGeom prst="rect">
            <a:avLst/>
          </a:prstGeom>
        </p:spPr>
      </p:pic>
      <p:pic>
        <p:nvPicPr>
          <p:cNvPr id="92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249" y="1724711"/>
            <a:ext cx="3444430" cy="2181948"/>
          </a:xfrm>
          <a:prstGeom prst="rect">
            <a:avLst/>
          </a:prstGeom>
        </p:spPr>
      </p:pic>
      <p:pic>
        <p:nvPicPr>
          <p:cNvPr id="93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4664" y="1995706"/>
            <a:ext cx="898302" cy="879290"/>
          </a:xfrm>
          <a:prstGeom prst="rect">
            <a:avLst/>
          </a:prstGeom>
        </p:spPr>
      </p:pic>
      <p:pic>
        <p:nvPicPr>
          <p:cNvPr id="94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010" y="1997106"/>
            <a:ext cx="885825" cy="876300"/>
          </a:xfrm>
          <a:prstGeom prst="rect">
            <a:avLst/>
          </a:prstGeom>
        </p:spPr>
      </p:pic>
      <p:pic>
        <p:nvPicPr>
          <p:cNvPr id="95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8714" y="4567904"/>
            <a:ext cx="873537" cy="873537"/>
          </a:xfrm>
          <a:prstGeom prst="rect">
            <a:avLst/>
          </a:prstGeom>
        </p:spPr>
      </p:pic>
      <p:pic>
        <p:nvPicPr>
          <p:cNvPr id="96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0089" y="4583620"/>
            <a:ext cx="874180" cy="864679"/>
          </a:xfrm>
          <a:prstGeom prst="rect">
            <a:avLst/>
          </a:prstGeom>
        </p:spPr>
      </p:pic>
      <p:pic>
        <p:nvPicPr>
          <p:cNvPr id="97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6846" y="2005676"/>
            <a:ext cx="870489" cy="865732"/>
          </a:xfrm>
          <a:prstGeom prst="rect">
            <a:avLst/>
          </a:prstGeom>
        </p:spPr>
      </p:pic>
      <p:sp>
        <p:nvSpPr>
          <p:cNvPr id="98" name="TextBox 12"/>
          <p:cNvSpPr txBox="1"/>
          <p:nvPr/>
        </p:nvSpPr>
        <p:spPr>
          <a:xfrm>
            <a:off x="631793" y="515397"/>
            <a:ext cx="5535834" cy="49996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2D0000"/>
                </a:solidFill>
                <a:latin typeface="Noto Sans SC" panose="020B0500000000000000" charset="-122"/>
                <a:ea typeface="Noto Sans SC" panose="020B0500000000000000" charset="-122"/>
              </a:rPr>
              <a:t>核心亮点:五大智能Agent协同</a:t>
            </a:r>
            <a:endParaRPr sz="3225" b="1" i="0">
              <a:solidFill>
                <a:srgbClr val="2D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99" name="TextBox 13"/>
          <p:cNvSpPr txBox="1"/>
          <p:nvPr/>
        </p:nvSpPr>
        <p:spPr>
          <a:xfrm>
            <a:off x="638937" y="1096041"/>
            <a:ext cx="262013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40000"/>
                </a:solidFill>
                <a:latin typeface="Noto Sans SC" panose="020B0500000000000000" charset="-122"/>
                <a:ea typeface="Noto Sans SC" panose="020B0500000000000000" charset="-122"/>
              </a:rPr>
              <a:t>构建完整的AI辅助教学闭环</a:t>
            </a:r>
            <a:endParaRPr sz="1725" b="0" i="0">
              <a:solidFill>
                <a:srgbClr val="04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00" name="TextBox 14"/>
          <p:cNvSpPr txBox="1"/>
          <p:nvPr/>
        </p:nvSpPr>
        <p:spPr>
          <a:xfrm>
            <a:off x="1806797" y="2071211"/>
            <a:ext cx="1925478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75" b="1" i="0">
                <a:solidFill>
                  <a:srgbClr val="2C0001"/>
                </a:solidFill>
                <a:latin typeface="Noto Sans SC" panose="020B0500000000000000" charset="-122"/>
                <a:ea typeface="Noto Sans SC" panose="020B0500000000000000" charset="-122"/>
              </a:rPr>
              <a:t>画像Agent</a:t>
            </a:r>
            <a:endParaRPr sz="3075" b="1" i="0">
              <a:solidFill>
                <a:srgbClr val="2C000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01" name="TextBox 15"/>
          <p:cNvSpPr txBox="1"/>
          <p:nvPr/>
        </p:nvSpPr>
        <p:spPr>
          <a:xfrm>
            <a:off x="5528881" y="2071211"/>
            <a:ext cx="1896237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>
                <a:solidFill>
                  <a:srgbClr val="250102"/>
                </a:solidFill>
                <a:latin typeface="Noto Sans SC" panose="020B0500000000000000" charset="-122"/>
                <a:ea typeface="Noto Sans SC" panose="020B0500000000000000" charset="-122"/>
              </a:rPr>
              <a:t>内容Agent</a:t>
            </a:r>
            <a:endParaRPr sz="3150" b="0" i="0">
              <a:solidFill>
                <a:srgbClr val="250102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02" name="TextBox 16"/>
          <p:cNvSpPr txBox="1"/>
          <p:nvPr/>
        </p:nvSpPr>
        <p:spPr>
          <a:xfrm>
            <a:off x="9250965" y="2071211"/>
            <a:ext cx="1896237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30200"/>
                </a:solidFill>
                <a:latin typeface="Noto Sans SC" panose="020B0500000000000000" charset="-122"/>
                <a:ea typeface="Noto Sans SC" panose="020B0500000000000000" charset="-122"/>
              </a:rPr>
              <a:t>路径Agent</a:t>
            </a:r>
            <a:endParaRPr sz="3000" b="1" i="0">
              <a:solidFill>
                <a:srgbClr val="2302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03" name="TextBox 17"/>
          <p:cNvSpPr txBox="1"/>
          <p:nvPr/>
        </p:nvSpPr>
        <p:spPr>
          <a:xfrm>
            <a:off x="1810512" y="2534221"/>
            <a:ext cx="1713071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40000"/>
                </a:solidFill>
                <a:latin typeface="Noto Sans SC" panose="020B0500000000000000" charset="-122"/>
                <a:ea typeface="Noto Sans SC" panose="020B0500000000000000" charset="-122"/>
              </a:rPr>
              <a:t>构建用户能力画像</a:t>
            </a:r>
            <a:endParaRPr sz="1575" b="0" i="0">
              <a:solidFill>
                <a:srgbClr val="04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04" name="TextBox 18"/>
          <p:cNvSpPr txBox="1"/>
          <p:nvPr/>
        </p:nvSpPr>
        <p:spPr>
          <a:xfrm>
            <a:off x="5533263" y="2565654"/>
            <a:ext cx="1682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生成学习内容资源</a:t>
            </a:r>
            <a:endParaRPr sz="1575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05" name="TextBox 19"/>
          <p:cNvSpPr txBox="1"/>
          <p:nvPr/>
        </p:nvSpPr>
        <p:spPr>
          <a:xfrm>
            <a:off x="9255347" y="2565654"/>
            <a:ext cx="127196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规划学习路径</a:t>
            </a:r>
            <a:endParaRPr sz="1575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06" name="TextBox 20"/>
          <p:cNvSpPr txBox="1"/>
          <p:nvPr/>
        </p:nvSpPr>
        <p:spPr>
          <a:xfrm>
            <a:off x="4799838" y="3024092"/>
            <a:ext cx="2357818" cy="5021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60" b="0" i="0">
                <a:solidFill>
                  <a:srgbClr val="000001"/>
                </a:solidFill>
                <a:latin typeface="Noto Sans SC" panose="020B0500000000000000" charset="-122"/>
                <a:ea typeface="Noto Sans SC" panose="020B0500000000000000" charset="-122"/>
              </a:rPr>
              <a:t>智能题目生成|个性化讲解</a:t>
            </a:r>
            <a:endParaRPr sz="1460" b="0" i="0">
              <a:solidFill>
                <a:srgbClr val="000001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1270"/>
            <a:r>
              <a:rPr lang="zh-CN" sz="1460">
                <a:latin typeface="Noto Sans SC" panose="020B0500000000000000" charset="-122"/>
                <a:ea typeface="Noto Sans SC" panose="020B0500000000000000" charset="-122"/>
              </a:rPr>
              <a:t>自适应练习</a:t>
            </a:r>
            <a:endParaRPr lang="zh-CN" sz="146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07" name="TextBox 21"/>
          <p:cNvSpPr txBox="1"/>
          <p:nvPr/>
        </p:nvSpPr>
        <p:spPr>
          <a:xfrm>
            <a:off x="8258937" y="3024854"/>
            <a:ext cx="311829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课程推荐|章节排序|难度递进策略</a:t>
            </a:r>
            <a:endParaRPr sz="1650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08" name="TextBox 22"/>
          <p:cNvSpPr txBox="1"/>
          <p:nvPr/>
        </p:nvSpPr>
        <p:spPr>
          <a:xfrm>
            <a:off x="1049178" y="3056286"/>
            <a:ext cx="2532221" cy="47072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70000"/>
                </a:solidFill>
                <a:latin typeface="Noto Sans SC" panose="020B0500000000000000" charset="-122"/>
                <a:ea typeface="Noto Sans SC" panose="020B0500000000000000" charset="-122"/>
              </a:rPr>
              <a:t>用户知识水平评估</a:t>
            </a:r>
            <a:endParaRPr sz="1500" b="0" i="0">
              <a:solidFill>
                <a:srgbClr val="0700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学习兴趣分析|学习进度追踪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09" name="TextBox 23"/>
          <p:cNvSpPr txBox="1"/>
          <p:nvPr/>
        </p:nvSpPr>
        <p:spPr>
          <a:xfrm>
            <a:off x="3477387" y="4642961"/>
            <a:ext cx="1925478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75" b="1" i="0">
                <a:solidFill>
                  <a:srgbClr val="290001"/>
                </a:solidFill>
                <a:latin typeface="Noto Sans SC" panose="020B0500000000000000" charset="-122"/>
                <a:ea typeface="Noto Sans SC" panose="020B0500000000000000" charset="-122"/>
              </a:rPr>
              <a:t>辅导Agent</a:t>
            </a:r>
            <a:endParaRPr sz="3075" b="1" i="0">
              <a:solidFill>
                <a:srgbClr val="29000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10" name="TextBox 24"/>
          <p:cNvSpPr txBox="1"/>
          <p:nvPr/>
        </p:nvSpPr>
        <p:spPr>
          <a:xfrm>
            <a:off x="7433881" y="4642961"/>
            <a:ext cx="1896237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80000"/>
                </a:solidFill>
                <a:latin typeface="Noto Sans SC" panose="020B0500000000000000" charset="-122"/>
                <a:ea typeface="Noto Sans SC" panose="020B0500000000000000" charset="-122"/>
              </a:rPr>
              <a:t>评估Agent</a:t>
            </a:r>
            <a:endParaRPr sz="3000" b="1" i="0">
              <a:solidFill>
                <a:srgbClr val="28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11" name="TextBox 25"/>
          <p:cNvSpPr txBox="1"/>
          <p:nvPr/>
        </p:nvSpPr>
        <p:spPr>
          <a:xfrm>
            <a:off x="3511105" y="5137404"/>
            <a:ext cx="188737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提供实时答疑与引导</a:t>
            </a:r>
            <a:endParaRPr sz="1650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12" name="TextBox 26"/>
          <p:cNvSpPr txBox="1"/>
          <p:nvPr/>
        </p:nvSpPr>
        <p:spPr>
          <a:xfrm>
            <a:off x="7438263" y="5137404"/>
            <a:ext cx="229771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10000"/>
                </a:solidFill>
                <a:latin typeface="Noto Sans SC" panose="020B0500000000000000" charset="-122"/>
                <a:ea typeface="Noto Sans SC" panose="020B0500000000000000" charset="-122"/>
              </a:rPr>
              <a:t>分析学习效果与掌握情况</a:t>
            </a:r>
            <a:endParaRPr sz="1575" b="0" i="0">
              <a:solidFill>
                <a:srgbClr val="01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13" name="TextBox 27"/>
          <p:cNvSpPr txBox="1"/>
          <p:nvPr/>
        </p:nvSpPr>
        <p:spPr>
          <a:xfrm>
            <a:off x="6822090" y="5626512"/>
            <a:ext cx="2533650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30000"/>
                </a:solidFill>
                <a:latin typeface="Noto Sans SC" panose="020B0500000000000000" charset="-122"/>
                <a:ea typeface="Noto Sans SC" panose="020B0500000000000000" charset="-122"/>
              </a:rPr>
              <a:t>知识点掌握度|学习效果预测</a:t>
            </a:r>
            <a:endParaRPr sz="1575" b="0" i="0">
              <a:solidFill>
                <a:srgbClr val="03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14" name="TextBox 28"/>
          <p:cNvSpPr txBox="1"/>
          <p:nvPr/>
        </p:nvSpPr>
        <p:spPr>
          <a:xfrm>
            <a:off x="2661094" y="5627274"/>
            <a:ext cx="2766631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24小时智能问答|学习困惑疏导</a:t>
            </a:r>
            <a:endParaRPr sz="1575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15" name="TextBox 29"/>
          <p:cNvSpPr txBox="1"/>
          <p:nvPr/>
        </p:nvSpPr>
        <p:spPr>
          <a:xfrm>
            <a:off x="4185856" y="5872924"/>
            <a:ext cx="1270444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学习方法建议</a:t>
            </a:r>
            <a:endParaRPr sz="1650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16" name="TextBox 30"/>
          <p:cNvSpPr txBox="1"/>
          <p:nvPr/>
        </p:nvSpPr>
        <p:spPr>
          <a:xfrm>
            <a:off x="8171688" y="5872924"/>
            <a:ext cx="1006697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10000"/>
                </a:solidFill>
                <a:latin typeface="Noto Sans SC" panose="020B0500000000000000" charset="-122"/>
                <a:ea typeface="Noto Sans SC" panose="020B0500000000000000" charset="-122"/>
              </a:rPr>
              <a:t>薄弱点诊断</a:t>
            </a:r>
            <a:endParaRPr sz="1500" b="0" i="0">
              <a:solidFill>
                <a:srgbClr val="01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9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022" y="1429277"/>
            <a:ext cx="3590067" cy="2023578"/>
          </a:xfrm>
          <a:prstGeom prst="rect">
            <a:avLst/>
          </a:prstGeom>
        </p:spPr>
      </p:pic>
      <p:pic>
        <p:nvPicPr>
          <p:cNvPr id="120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19" y="3621084"/>
            <a:ext cx="3585781" cy="2028609"/>
          </a:xfrm>
          <a:prstGeom prst="rect">
            <a:avLst/>
          </a:prstGeom>
        </p:spPr>
      </p:pic>
      <p:pic>
        <p:nvPicPr>
          <p:cNvPr id="121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355" y="3624669"/>
            <a:ext cx="3590829" cy="2024008"/>
          </a:xfrm>
          <a:prstGeom prst="rect">
            <a:avLst/>
          </a:prstGeom>
        </p:spPr>
      </p:pic>
      <p:pic>
        <p:nvPicPr>
          <p:cNvPr id="122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93" y="1426845"/>
            <a:ext cx="3574054" cy="2030063"/>
          </a:xfrm>
          <a:prstGeom prst="rect">
            <a:avLst/>
          </a:prstGeom>
        </p:spPr>
      </p:pic>
      <p:pic>
        <p:nvPicPr>
          <p:cNvPr id="123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0158" y="1426029"/>
            <a:ext cx="3498818" cy="2032646"/>
          </a:xfrm>
          <a:prstGeom prst="rect">
            <a:avLst/>
          </a:prstGeom>
        </p:spPr>
      </p:pic>
      <p:pic>
        <p:nvPicPr>
          <p:cNvPr id="124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0091" y="3626072"/>
            <a:ext cx="3493714" cy="2029682"/>
          </a:xfrm>
          <a:prstGeom prst="rect">
            <a:avLst/>
          </a:prstGeom>
        </p:spPr>
      </p:pic>
      <p:pic>
        <p:nvPicPr>
          <p:cNvPr id="125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8864" y="2507170"/>
            <a:ext cx="631906" cy="679418"/>
          </a:xfrm>
          <a:prstGeom prst="rect">
            <a:avLst/>
          </a:prstGeom>
        </p:spPr>
      </p:pic>
      <p:pic>
        <p:nvPicPr>
          <p:cNvPr id="126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3878" y="4712970"/>
            <a:ext cx="606124" cy="672941"/>
          </a:xfrm>
          <a:prstGeom prst="rect">
            <a:avLst/>
          </a:prstGeom>
        </p:spPr>
      </p:pic>
      <p:pic>
        <p:nvPicPr>
          <p:cNvPr id="127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2327" y="2551930"/>
            <a:ext cx="629697" cy="639237"/>
          </a:xfrm>
          <a:prstGeom prst="rect">
            <a:avLst/>
          </a:prstGeom>
        </p:spPr>
      </p:pic>
      <p:pic>
        <p:nvPicPr>
          <p:cNvPr id="128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6152" y="2562796"/>
            <a:ext cx="591180" cy="624554"/>
          </a:xfrm>
          <a:prstGeom prst="rect">
            <a:avLst/>
          </a:prstGeom>
        </p:spPr>
      </p:pic>
      <p:pic>
        <p:nvPicPr>
          <p:cNvPr id="129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5205" y="4768977"/>
            <a:ext cx="554211" cy="615791"/>
          </a:xfrm>
          <a:prstGeom prst="rect">
            <a:avLst/>
          </a:prstGeom>
        </p:spPr>
      </p:pic>
      <p:pic>
        <p:nvPicPr>
          <p:cNvPr id="130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40514" y="4740497"/>
            <a:ext cx="525651" cy="620363"/>
          </a:xfrm>
          <a:prstGeom prst="rect">
            <a:avLst/>
          </a:prstGeom>
        </p:spPr>
      </p:pic>
      <p:sp>
        <p:nvSpPr>
          <p:cNvPr id="131" name="TextBox 14"/>
          <p:cNvSpPr txBox="1"/>
          <p:nvPr/>
        </p:nvSpPr>
        <p:spPr>
          <a:xfrm>
            <a:off x="663130" y="600837"/>
            <a:ext cx="6000750" cy="48215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525" b="1" i="0">
                <a:solidFill>
                  <a:srgbClr val="341001"/>
                </a:solidFill>
                <a:latin typeface="Noto Sans SC" panose="020B0500000000000000" charset="-122"/>
                <a:ea typeface="Noto Sans SC" panose="020B0500000000000000" charset="-122"/>
              </a:rPr>
              <a:t>核心功能:一站式智能学习体验</a:t>
            </a:r>
            <a:endParaRPr sz="3525" b="1" i="0">
              <a:solidFill>
                <a:srgbClr val="34100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32" name="TextBox 15"/>
          <p:cNvSpPr txBox="1"/>
          <p:nvPr/>
        </p:nvSpPr>
        <p:spPr>
          <a:xfrm>
            <a:off x="988409" y="1552956"/>
            <a:ext cx="1217771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321100"/>
                </a:solidFill>
                <a:latin typeface="Noto Sans SC" panose="020B0500000000000000" charset="-122"/>
                <a:ea typeface="Noto Sans SC" panose="020B0500000000000000" charset="-122"/>
              </a:rPr>
              <a:t>智能诊断</a:t>
            </a:r>
            <a:endParaRPr sz="2250" b="1" i="0">
              <a:solidFill>
                <a:srgbClr val="3211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33" name="TextBox 16"/>
          <p:cNvSpPr txBox="1"/>
          <p:nvPr/>
        </p:nvSpPr>
        <p:spPr>
          <a:xfrm>
            <a:off x="4739830" y="1552956"/>
            <a:ext cx="1510855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321100"/>
                </a:solidFill>
                <a:latin typeface="Noto Sans SC" panose="020B0500000000000000" charset="-122"/>
                <a:ea typeface="Noto Sans SC" panose="020B0500000000000000" charset="-122"/>
              </a:rPr>
              <a:t>个性化路径</a:t>
            </a:r>
            <a:endParaRPr sz="2250" b="1" i="0">
              <a:solidFill>
                <a:srgbClr val="3211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34" name="TextBox 17"/>
          <p:cNvSpPr txBox="1"/>
          <p:nvPr/>
        </p:nvSpPr>
        <p:spPr>
          <a:xfrm>
            <a:off x="8491156" y="1552956"/>
            <a:ext cx="953928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475" b="1" i="0">
                <a:solidFill>
                  <a:srgbClr val="301000"/>
                </a:solidFill>
                <a:latin typeface="Noto Sans SC" panose="020B0500000000000000" charset="-122"/>
                <a:ea typeface="Noto Sans SC" panose="020B0500000000000000" charset="-122"/>
              </a:rPr>
              <a:t>AI讲解</a:t>
            </a:r>
            <a:endParaRPr sz="2475" b="1" i="0">
              <a:solidFill>
                <a:srgbClr val="301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35" name="TextBox 18"/>
          <p:cNvSpPr txBox="1"/>
          <p:nvPr/>
        </p:nvSpPr>
        <p:spPr>
          <a:xfrm>
            <a:off x="4887563" y="2029491"/>
            <a:ext cx="2181510" cy="109947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定制专属学习计划</a:t>
            </a:r>
            <a:endParaRPr sz="1425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31115">
              <a:spcBef>
                <a:spcPts val="140"/>
              </a:spcBef>
            </a:pPr>
            <a:r>
              <a:rPr lang="zh-CN" sz="1425">
                <a:latin typeface="Noto Sans SC" panose="020B0500000000000000" charset="-122"/>
                <a:ea typeface="Noto Sans SC" panose="020B0500000000000000" charset="-122"/>
              </a:rPr>
              <a:t>基于诊断结果智能推荐</a:t>
            </a:r>
            <a:endParaRPr lang="zh-CN" sz="1425">
              <a:latin typeface="Noto Sans SC" panose="020B0500000000000000" charset="-122"/>
              <a:ea typeface="Noto Sans SC" panose="020B0500000000000000" charset="-122"/>
            </a:endParaRPr>
          </a:p>
          <a:p>
            <a:pPr marL="635">
              <a:spcBef>
                <a:spcPts val="390"/>
              </a:spcBef>
            </a:pPr>
            <a:r>
              <a:rPr lang="zh-CN" sz="1425">
                <a:latin typeface="Noto Sans SC" panose="020B0500000000000000" charset="-122"/>
                <a:ea typeface="Noto Sans SC" panose="020B0500000000000000" charset="-122"/>
              </a:rPr>
              <a:t>动态调整学习内容和节奏</a:t>
            </a:r>
            <a:endParaRPr lang="zh-CN" sz="1425">
              <a:latin typeface="Noto Sans SC" panose="020B0500000000000000" charset="-122"/>
              <a:ea typeface="Noto Sans SC" panose="020B0500000000000000" charset="-122"/>
            </a:endParaRPr>
          </a:p>
          <a:p>
            <a:pPr marL="30480">
              <a:spcBef>
                <a:spcPts val="145"/>
              </a:spcBef>
            </a:pPr>
            <a:r>
              <a:rPr lang="zh-CN" sz="1425">
                <a:latin typeface="Noto Sans SC" panose="020B0500000000000000" charset="-122"/>
                <a:ea typeface="Noto Sans SC" panose="020B0500000000000000" charset="-122"/>
              </a:rPr>
              <a:t>匹配个人目标和时间安排</a:t>
            </a:r>
            <a:endParaRPr lang="zh-CN" sz="1425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36" name="TextBox 19"/>
          <p:cNvSpPr txBox="1"/>
          <p:nvPr/>
        </p:nvSpPr>
        <p:spPr>
          <a:xfrm>
            <a:off x="1137094" y="2045112"/>
            <a:ext cx="2220277" cy="108384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快速评估知识掌握情况</a:t>
            </a:r>
            <a:endParaRPr sz="1500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27305">
              <a:spcBef>
                <a:spcPts val="10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通过AI算法分析答题数据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  <a:p>
            <a:pPr marL="29845">
              <a:spcBef>
                <a:spcPts val="165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精准定位知识薄弱环节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390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生成可视化能力图谱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37" name="TextBox 20"/>
          <p:cNvSpPr txBox="1"/>
          <p:nvPr/>
        </p:nvSpPr>
        <p:spPr>
          <a:xfrm>
            <a:off x="8640603" y="2045874"/>
            <a:ext cx="2000250" cy="108308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实时答疑、知识讲解</a:t>
            </a:r>
            <a:endParaRPr sz="1500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29210">
              <a:spcBef>
                <a:spcPts val="395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24小时在线AI教师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  <a:p>
            <a:pPr marL="29210">
              <a:spcBef>
                <a:spcPts val="395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针对具体问题及时响应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  <a:p>
            <a:pPr marL="28575">
              <a:spcBef>
                <a:spcPts val="390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多轮对话深入理解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38" name="TextBox 21"/>
          <p:cNvSpPr txBox="1"/>
          <p:nvPr/>
        </p:nvSpPr>
        <p:spPr>
          <a:xfrm>
            <a:off x="989171" y="3758088"/>
            <a:ext cx="1216247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351201"/>
                </a:solidFill>
                <a:latin typeface="Noto Sans SC" panose="020B0500000000000000" charset="-122"/>
                <a:ea typeface="Noto Sans SC" panose="020B0500000000000000" charset="-122"/>
              </a:rPr>
              <a:t>智能练习</a:t>
            </a:r>
            <a:endParaRPr sz="2250" b="1" i="0">
              <a:solidFill>
                <a:srgbClr val="35120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39" name="TextBox 22"/>
          <p:cNvSpPr txBox="1"/>
          <p:nvPr/>
        </p:nvSpPr>
        <p:spPr>
          <a:xfrm>
            <a:off x="4740497" y="3758088"/>
            <a:ext cx="1216247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2F0F00"/>
                </a:solidFill>
                <a:latin typeface="Noto Sans SC" panose="020B0500000000000000" charset="-122"/>
                <a:ea typeface="Noto Sans SC" panose="020B0500000000000000" charset="-122"/>
              </a:rPr>
              <a:t>学情分析</a:t>
            </a:r>
            <a:endParaRPr sz="2250" b="1" i="0">
              <a:solidFill>
                <a:srgbClr val="2F0F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40" name="TextBox 23"/>
          <p:cNvSpPr txBox="1"/>
          <p:nvPr/>
        </p:nvSpPr>
        <p:spPr>
          <a:xfrm>
            <a:off x="8521255" y="3758088"/>
            <a:ext cx="923163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50" b="1" i="0">
                <a:solidFill>
                  <a:srgbClr val="310F00">
                    <a:alpha val="100000"/>
                  </a:srgbClr>
                </a:solidFill>
                <a:latin typeface="Noto Sans SC"/>
                <a:ea typeface="Noto Sans SC"/>
                <a:cs typeface="+mn-cs"/>
              </a:rPr>
              <a:t>复习计划</a:t>
            </a:r>
            <a:endParaRPr lang="zh-CN" sz="2250" b="1" i="0">
              <a:solidFill>
                <a:srgbClr val="310F00">
                  <a:alpha val="100000"/>
                </a:srgbClr>
              </a:solidFill>
              <a:latin typeface="Noto Sans SC"/>
              <a:ea typeface="Noto Sans SC"/>
              <a:cs typeface="+mn-cs"/>
            </a:endParaRPr>
          </a:p>
        </p:txBody>
      </p:sp>
      <p:sp>
        <p:nvSpPr>
          <p:cNvPr id="141" name="TextBox 24"/>
          <p:cNvSpPr txBox="1"/>
          <p:nvPr/>
        </p:nvSpPr>
        <p:spPr>
          <a:xfrm>
            <a:off x="4887372" y="4218146"/>
            <a:ext cx="2352294" cy="111518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可视化学习报告</a:t>
            </a:r>
            <a:endParaRPr sz="1500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每日/周/月学习数据追踪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  <a:p>
            <a:pPr marL="31115">
              <a:spcBef>
                <a:spcPts val="205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薄弱点变化趋势分析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  <a:p>
            <a:pPr marL="30480">
              <a:spcBef>
                <a:spcPts val="390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学习效果直观可见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42" name="TextBox 25"/>
          <p:cNvSpPr txBox="1"/>
          <p:nvPr/>
        </p:nvSpPr>
        <p:spPr>
          <a:xfrm>
            <a:off x="1166431" y="4218908"/>
            <a:ext cx="2150459" cy="108308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自适应题目推荐</a:t>
            </a:r>
            <a:endParaRPr sz="1500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145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根据掌握程度智能选题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  <a:p>
            <a:pPr marL="635">
              <a:spcBef>
                <a:spcPts val="390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题目难度动态调整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  <a:p>
            <a:pPr marL="635">
              <a:spcBef>
                <a:spcPts val="400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减少无效刷题,提升效率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43" name="TextBox 26"/>
          <p:cNvSpPr txBox="1"/>
          <p:nvPr/>
        </p:nvSpPr>
        <p:spPr>
          <a:xfrm>
            <a:off x="8669178" y="4218908"/>
            <a:ext cx="2000250" cy="108299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智能错题归纳与复习</a:t>
            </a:r>
            <a:endParaRPr sz="1500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27305">
              <a:spcBef>
                <a:spcPts val="255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自动收录错题并分类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  <a:p>
            <a:pPr marL="29845">
              <a:spcBef>
                <a:spcPts val="55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智能生成复习计划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  <a:p>
            <a:pPr marL="635">
              <a:spcBef>
                <a:spcPts val="400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艾宾浩斯记忆曲线加持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44" name="TextBox 27"/>
          <p:cNvSpPr txBox="1"/>
          <p:nvPr/>
        </p:nvSpPr>
        <p:spPr>
          <a:xfrm>
            <a:off x="4036409" y="6022943"/>
            <a:ext cx="4207097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A0C00"/>
                </a:solidFill>
                <a:latin typeface="Noto Sans SC" panose="020B0500000000000000" charset="-122"/>
                <a:ea typeface="Noto Sans SC" panose="020B0500000000000000" charset="-122"/>
              </a:rPr>
              <a:t>AI驱动因材施教,让学习更高效</a:t>
            </a:r>
            <a:endParaRPr sz="2400" b="1" i="0">
              <a:solidFill>
                <a:srgbClr val="2A0C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7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298" y="1526822"/>
            <a:ext cx="2314384" cy="3766826"/>
          </a:xfrm>
          <a:prstGeom prst="rect">
            <a:avLst/>
          </a:prstGeom>
        </p:spPr>
      </p:pic>
      <p:pic>
        <p:nvPicPr>
          <p:cNvPr id="148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390" y="1530000"/>
            <a:ext cx="2312526" cy="3763803"/>
          </a:xfrm>
          <a:prstGeom prst="rect">
            <a:avLst/>
          </a:prstGeom>
        </p:spPr>
      </p:pic>
      <p:pic>
        <p:nvPicPr>
          <p:cNvPr id="149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218" y="1529143"/>
            <a:ext cx="2314575" cy="3763010"/>
          </a:xfrm>
          <a:prstGeom prst="rect">
            <a:avLst/>
          </a:prstGeom>
        </p:spPr>
      </p:pic>
      <p:pic>
        <p:nvPicPr>
          <p:cNvPr id="150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2915" y="1529876"/>
            <a:ext cx="2313146" cy="3760052"/>
          </a:xfrm>
          <a:prstGeom prst="rect">
            <a:avLst/>
          </a:prstGeom>
        </p:spPr>
      </p:pic>
      <p:pic>
        <p:nvPicPr>
          <p:cNvPr id="151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2721" y="4980908"/>
            <a:ext cx="1823017" cy="1704022"/>
          </a:xfrm>
          <a:prstGeom prst="rect">
            <a:avLst/>
          </a:prstGeom>
        </p:spPr>
      </p:pic>
      <p:pic>
        <p:nvPicPr>
          <p:cNvPr id="152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2494" y="2867691"/>
            <a:ext cx="811370" cy="768667"/>
          </a:xfrm>
          <a:prstGeom prst="rect">
            <a:avLst/>
          </a:prstGeom>
        </p:spPr>
      </p:pic>
      <p:pic>
        <p:nvPicPr>
          <p:cNvPr id="153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6685" y="2842521"/>
            <a:ext cx="732948" cy="804339"/>
          </a:xfrm>
          <a:prstGeom prst="rect">
            <a:avLst/>
          </a:prstGeom>
        </p:spPr>
      </p:pic>
      <p:pic>
        <p:nvPicPr>
          <p:cNvPr id="154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1658" y="2852692"/>
            <a:ext cx="767524" cy="762756"/>
          </a:xfrm>
          <a:prstGeom prst="rect">
            <a:avLst/>
          </a:prstGeom>
        </p:spPr>
      </p:pic>
      <p:pic>
        <p:nvPicPr>
          <p:cNvPr id="155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1111" y="2855129"/>
            <a:ext cx="746855" cy="765883"/>
          </a:xfrm>
          <a:prstGeom prst="rect">
            <a:avLst/>
          </a:prstGeom>
        </p:spPr>
      </p:pic>
      <p:pic>
        <p:nvPicPr>
          <p:cNvPr id="156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8794" y="3192018"/>
            <a:ext cx="448913" cy="448913"/>
          </a:xfrm>
          <a:prstGeom prst="rect">
            <a:avLst/>
          </a:prstGeom>
        </p:spPr>
      </p:pic>
      <p:pic>
        <p:nvPicPr>
          <p:cNvPr id="157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96011" y="5760243"/>
            <a:ext cx="250432" cy="240982"/>
          </a:xfrm>
          <a:prstGeom prst="rect">
            <a:avLst/>
          </a:prstGeom>
        </p:spPr>
      </p:pic>
      <p:pic>
        <p:nvPicPr>
          <p:cNvPr id="158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1734" y="4800445"/>
            <a:ext cx="205644" cy="234338"/>
          </a:xfrm>
          <a:prstGeom prst="rect">
            <a:avLst/>
          </a:prstGeom>
        </p:spPr>
      </p:pic>
      <p:sp>
        <p:nvSpPr>
          <p:cNvPr id="159" name="TextBox 14"/>
          <p:cNvSpPr txBox="1"/>
          <p:nvPr/>
        </p:nvSpPr>
        <p:spPr>
          <a:xfrm>
            <a:off x="401478" y="235743"/>
            <a:ext cx="1424368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2475" b="0" i="0">
                <a:solidFill>
                  <a:srgbClr val="350500"/>
                </a:solidFill>
                <a:latin typeface="Noto Sans SC" panose="020B0500000000000000" charset="-122"/>
                <a:ea typeface="Noto Sans SC" panose="020B0500000000000000" charset="-122"/>
              </a:rPr>
              <a:t>产品定位:</a:t>
            </a:r>
            <a:endParaRPr sz="2475" b="0" i="0">
              <a:solidFill>
                <a:srgbClr val="3505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60" name="TextBox 15"/>
          <p:cNvSpPr txBox="1"/>
          <p:nvPr/>
        </p:nvSpPr>
        <p:spPr>
          <a:xfrm>
            <a:off x="5087778" y="600075"/>
            <a:ext cx="6441852" cy="5143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340500"/>
                </a:solidFill>
                <a:latin typeface="Noto Sans SC" panose="020B0500000000000000" charset="-122"/>
                <a:ea typeface="Noto Sans SC" panose="020B0500000000000000" charset="-122"/>
              </a:rPr>
              <a:t>基于多Agent架构的AI驱动学习平台</a:t>
            </a:r>
            <a:endParaRPr sz="3150" b="1" i="0">
              <a:solidFill>
                <a:srgbClr val="3405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61" name="TextBox 16"/>
          <p:cNvSpPr txBox="1"/>
          <p:nvPr/>
        </p:nvSpPr>
        <p:spPr>
          <a:xfrm>
            <a:off x="401478" y="664368"/>
            <a:ext cx="3387947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320400"/>
                </a:solidFill>
                <a:latin typeface="Noto Sans SC" panose="020B0500000000000000" charset="-122"/>
                <a:ea typeface="Noto Sans SC" panose="020B0500000000000000" charset="-122"/>
              </a:rPr>
              <a:t>AI驱动的智能学习平台</a:t>
            </a:r>
            <a:endParaRPr sz="2550" b="1" i="0">
              <a:solidFill>
                <a:srgbClr val="3204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62" name="TextBox 17"/>
          <p:cNvSpPr txBox="1"/>
          <p:nvPr/>
        </p:nvSpPr>
        <p:spPr>
          <a:xfrm>
            <a:off x="2100643" y="1765744"/>
            <a:ext cx="1700212" cy="7845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85" b="1" i="0">
                <a:solidFill>
                  <a:srgbClr val="202225"/>
                </a:solidFill>
                <a:latin typeface="Noto Sans SC" panose="020B0500000000000000" charset="-122"/>
                <a:ea typeface="Noto Sans SC" panose="020B0500000000000000" charset="-122"/>
              </a:rPr>
              <a:t>个性化学习</a:t>
            </a:r>
            <a:endParaRPr sz="2585" b="1" i="0">
              <a:solidFill>
                <a:srgbClr val="202225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147320"/>
            <a:r>
              <a:rPr lang="zh-CN" sz="2585" b="1">
                <a:latin typeface="Noto Sans SC" panose="020B0500000000000000" charset="-122"/>
                <a:ea typeface="Noto Sans SC" panose="020B0500000000000000" charset="-122"/>
              </a:rPr>
              <a:t>路径生成</a:t>
            </a:r>
            <a:endParaRPr lang="zh-CN" sz="2585" b="1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63" name="TextBox 18"/>
          <p:cNvSpPr txBox="1"/>
          <p:nvPr/>
        </p:nvSpPr>
        <p:spPr>
          <a:xfrm>
            <a:off x="4591812" y="1765744"/>
            <a:ext cx="1700212" cy="7845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F2125"/>
                </a:solidFill>
                <a:latin typeface="Noto Sans SC" panose="020B0500000000000000" charset="-122"/>
                <a:ea typeface="Noto Sans SC" panose="020B0500000000000000" charset="-122"/>
              </a:rPr>
              <a:t>多模态学习</a:t>
            </a:r>
            <a:endParaRPr sz="2550" b="1" i="0">
              <a:solidFill>
                <a:srgbClr val="1F2125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176530"/>
            <a:r>
              <a:rPr lang="zh-CN" sz="2550" b="1">
                <a:latin typeface="Noto Sans SC" panose="020B0500000000000000" charset="-122"/>
                <a:ea typeface="Noto Sans SC" panose="020B0500000000000000" charset="-122"/>
              </a:rPr>
              <a:t>内容生成</a:t>
            </a:r>
            <a:endParaRPr lang="zh-CN" sz="2550" b="1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64" name="TextBox 19"/>
          <p:cNvSpPr txBox="1"/>
          <p:nvPr/>
        </p:nvSpPr>
        <p:spPr>
          <a:xfrm>
            <a:off x="9544812" y="1765744"/>
            <a:ext cx="1700212" cy="7845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85" b="1" i="0">
                <a:solidFill>
                  <a:srgbClr val="330600"/>
                </a:solidFill>
                <a:latin typeface="Noto Sans SC" panose="020B0500000000000000" charset="-122"/>
                <a:ea typeface="Noto Sans SC" panose="020B0500000000000000" charset="-122"/>
              </a:rPr>
              <a:t>学习过程数</a:t>
            </a:r>
            <a:endParaRPr sz="2585" b="1" i="0">
              <a:solidFill>
                <a:srgbClr val="3306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147320"/>
            <a:r>
              <a:rPr lang="zh-CN" sz="2585" b="1">
                <a:latin typeface="Noto Sans SC" panose="020B0500000000000000" charset="-122"/>
                <a:ea typeface="Noto Sans SC" panose="020B0500000000000000" charset="-122"/>
              </a:rPr>
              <a:t>据驱优化</a:t>
            </a:r>
            <a:endParaRPr lang="zh-CN" sz="2585" b="1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65" name="TextBox 20"/>
          <p:cNvSpPr txBox="1"/>
          <p:nvPr/>
        </p:nvSpPr>
        <p:spPr>
          <a:xfrm>
            <a:off x="7078218" y="1776317"/>
            <a:ext cx="1700212" cy="77400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85" b="0" i="0">
                <a:solidFill>
                  <a:srgbClr val="300700"/>
                </a:solidFill>
                <a:latin typeface="Noto Sans SC" panose="020B0500000000000000" charset="-122"/>
                <a:ea typeface="Noto Sans SC" panose="020B0500000000000000" charset="-122"/>
              </a:rPr>
              <a:t>智能学习辅</a:t>
            </a:r>
            <a:endParaRPr sz="2585" b="0" i="0">
              <a:solidFill>
                <a:srgbClr val="3007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151765"/>
            <a:r>
              <a:rPr lang="zh-CN" sz="2585">
                <a:latin typeface="Noto Sans SC" panose="020B0500000000000000" charset="-122"/>
                <a:ea typeface="Noto Sans SC" panose="020B0500000000000000" charset="-122"/>
              </a:rPr>
              <a:t>助与评估</a:t>
            </a:r>
            <a:endParaRPr lang="zh-CN" sz="2585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66" name="TextBox 21"/>
          <p:cNvSpPr txBox="1"/>
          <p:nvPr/>
        </p:nvSpPr>
        <p:spPr>
          <a:xfrm>
            <a:off x="2131409" y="3912012"/>
            <a:ext cx="1598771" cy="90163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1270"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50E2B"/>
                </a:solidFill>
                <a:latin typeface="Noto Sans SC" panose="020B0500000000000000" charset="-122"/>
                <a:ea typeface="Noto Sans SC" panose="020B0500000000000000" charset="-122"/>
              </a:rPr>
              <a:t>根据用户能力和</a:t>
            </a:r>
            <a:endParaRPr sz="1800" b="0" i="0">
              <a:solidFill>
                <a:srgbClr val="050E2B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120"/>
              </a:spcBef>
            </a:pPr>
            <a:r>
              <a:rPr lang="zh-CN" sz="1800">
                <a:latin typeface="Noto Sans SC" panose="020B0500000000000000" charset="-122"/>
                <a:ea typeface="Noto Sans SC" panose="020B0500000000000000" charset="-122"/>
              </a:rPr>
              <a:t>目标,动态规划</a:t>
            </a:r>
            <a:endParaRPr lang="zh-CN" sz="1800">
              <a:latin typeface="Noto Sans SC" panose="020B0500000000000000" charset="-122"/>
              <a:ea typeface="Noto Sans SC" panose="020B0500000000000000" charset="-122"/>
            </a:endParaRPr>
          </a:p>
          <a:p>
            <a:pPr marL="89535"/>
            <a:r>
              <a:rPr lang="zh-CN" sz="1800">
                <a:latin typeface="Noto Sans SC" panose="020B0500000000000000" charset="-122"/>
                <a:ea typeface="Noto Sans SC" panose="020B0500000000000000" charset="-122"/>
              </a:rPr>
              <a:t>最优学习路线</a:t>
            </a:r>
            <a:endParaRPr lang="zh-CN" sz="180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67" name="TextBox 22"/>
          <p:cNvSpPr txBox="1"/>
          <p:nvPr/>
        </p:nvSpPr>
        <p:spPr>
          <a:xfrm>
            <a:off x="9547669" y="3912012"/>
            <a:ext cx="1654492" cy="59550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9210" algn="just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50F2C"/>
                </a:solidFill>
                <a:latin typeface="Noto Sans SC" panose="020B0500000000000000" charset="-122"/>
                <a:ea typeface="Noto Sans SC" panose="020B0500000000000000" charset="-122"/>
              </a:rPr>
              <a:t>基于学习数据支持</a:t>
            </a:r>
            <a:endParaRPr sz="1725" b="0" i="0">
              <a:solidFill>
                <a:srgbClr val="050F2C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130"/>
              </a:spcBef>
            </a:pPr>
            <a:r>
              <a:rPr lang="zh-CN" sz="1725">
                <a:latin typeface="Noto Sans SC" panose="020B0500000000000000" charset="-122"/>
                <a:ea typeface="Noto Sans SC" panose="020B0500000000000000" charset="-122"/>
              </a:rPr>
              <a:t>续优化推荐策略</a:t>
            </a:r>
            <a:endParaRPr lang="zh-CN" sz="1725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68" name="TextBox 23"/>
          <p:cNvSpPr txBox="1"/>
          <p:nvPr/>
        </p:nvSpPr>
        <p:spPr>
          <a:xfrm>
            <a:off x="4593240" y="3912774"/>
            <a:ext cx="1704212" cy="90011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1905"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50F2A"/>
                </a:solidFill>
                <a:latin typeface="Noto Sans SC" panose="020B0500000000000000" charset="-122"/>
                <a:ea typeface="Noto Sans SC" panose="020B0500000000000000" charset="-122"/>
              </a:rPr>
              <a:t>AI生成题目、讲</a:t>
            </a:r>
            <a:endParaRPr sz="1800" b="0" i="0">
              <a:solidFill>
                <a:srgbClr val="050F2A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365"/>
              </a:spcBef>
            </a:pPr>
            <a:r>
              <a:rPr lang="zh-CN" sz="1800">
                <a:latin typeface="Noto Sans SC" panose="020B0500000000000000" charset="-122"/>
                <a:ea typeface="Noto Sans SC" panose="020B0500000000000000" charset="-122"/>
              </a:rPr>
              <a:t>解、练习等多样</a:t>
            </a:r>
            <a:endParaRPr lang="zh-CN" sz="1800">
              <a:latin typeface="Noto Sans SC" panose="020B0500000000000000" charset="-122"/>
              <a:ea typeface="Noto Sans SC" panose="020B0500000000000000" charset="-122"/>
            </a:endParaRPr>
          </a:p>
          <a:p>
            <a:pPr marL="236855"/>
            <a:r>
              <a:rPr lang="zh-CN" sz="1800">
                <a:latin typeface="Noto Sans SC" panose="020B0500000000000000" charset="-122"/>
                <a:ea typeface="Noto Sans SC" panose="020B0500000000000000" charset="-122"/>
              </a:rPr>
              <a:t>化学习资源</a:t>
            </a:r>
            <a:endParaRPr lang="zh-CN" sz="180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69" name="TextBox 24"/>
          <p:cNvSpPr txBox="1"/>
          <p:nvPr/>
        </p:nvSpPr>
        <p:spPr>
          <a:xfrm>
            <a:off x="7086600" y="3912774"/>
            <a:ext cx="1610201" cy="59474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050F2B"/>
                </a:solidFill>
                <a:latin typeface="Noto Sans SC" panose="020B0500000000000000" charset="-122"/>
                <a:ea typeface="Noto Sans SC" panose="020B0500000000000000" charset="-122"/>
              </a:rPr>
              <a:t>实时答疑与学习</a:t>
            </a:r>
            <a:endParaRPr sz="1760" b="0" i="0">
              <a:solidFill>
                <a:srgbClr val="050F2B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116205">
              <a:spcBef>
                <a:spcPts val="380"/>
              </a:spcBef>
            </a:pPr>
            <a:r>
              <a:rPr lang="zh-CN" sz="1760">
                <a:latin typeface="Noto Sans SC" panose="020B0500000000000000" charset="-122"/>
                <a:ea typeface="Noto Sans SC" panose="020B0500000000000000" charset="-122"/>
              </a:rPr>
              <a:t>效果智能评估</a:t>
            </a:r>
            <a:endParaRPr lang="zh-CN" sz="176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70" name="TextBox 25"/>
          <p:cNvSpPr txBox="1"/>
          <p:nvPr/>
        </p:nvSpPr>
        <p:spPr>
          <a:xfrm>
            <a:off x="2422302" y="5836920"/>
            <a:ext cx="7259478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24549"/>
                </a:solidFill>
                <a:latin typeface="Noto Sans SC" panose="020B0500000000000000" charset="-122"/>
                <a:ea typeface="Noto Sans SC" panose="020B0500000000000000" charset="-122"/>
              </a:rPr>
              <a:t>让每个学习者都能获得量身定制的学习体验</a:t>
            </a:r>
            <a:endParaRPr sz="3000" b="1" i="0">
              <a:solidFill>
                <a:srgbClr val="424549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76" y="1581054"/>
            <a:ext cx="3305095" cy="3967067"/>
          </a:xfrm>
          <a:prstGeom prst="rect">
            <a:avLst/>
          </a:prstGeom>
        </p:spPr>
      </p:pic>
      <p:pic>
        <p:nvPicPr>
          <p:cNvPr id="17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627" y="1591151"/>
            <a:ext cx="3286362" cy="3957923"/>
          </a:xfrm>
          <a:prstGeom prst="rect">
            <a:avLst/>
          </a:prstGeom>
        </p:spPr>
      </p:pic>
      <p:pic>
        <p:nvPicPr>
          <p:cNvPr id="17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051" y="1610038"/>
            <a:ext cx="3290125" cy="3937674"/>
          </a:xfrm>
          <a:prstGeom prst="rect">
            <a:avLst/>
          </a:prstGeom>
        </p:spPr>
      </p:pic>
      <p:pic>
        <p:nvPicPr>
          <p:cNvPr id="17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573" y="1987485"/>
            <a:ext cx="1335976" cy="1445326"/>
          </a:xfrm>
          <a:prstGeom prst="rect">
            <a:avLst/>
          </a:prstGeom>
        </p:spPr>
      </p:pic>
      <p:pic>
        <p:nvPicPr>
          <p:cNvPr id="17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2113" y="1995732"/>
            <a:ext cx="1339405" cy="1434736"/>
          </a:xfrm>
          <a:prstGeom prst="rect">
            <a:avLst/>
          </a:prstGeom>
        </p:spPr>
      </p:pic>
      <p:pic>
        <p:nvPicPr>
          <p:cNvPr id="17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4128" y="2002345"/>
            <a:ext cx="1263878" cy="1430178"/>
          </a:xfrm>
          <a:prstGeom prst="rect">
            <a:avLst/>
          </a:prstGeom>
        </p:spPr>
      </p:pic>
      <p:pic>
        <p:nvPicPr>
          <p:cNvPr id="17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6010" y="1207293"/>
            <a:ext cx="793539" cy="841057"/>
          </a:xfrm>
          <a:prstGeom prst="rect">
            <a:avLst/>
          </a:prstGeom>
        </p:spPr>
      </p:pic>
      <p:pic>
        <p:nvPicPr>
          <p:cNvPr id="18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6047" y="1329274"/>
            <a:ext cx="768000" cy="691677"/>
          </a:xfrm>
          <a:prstGeom prst="rect">
            <a:avLst/>
          </a:prstGeom>
        </p:spPr>
      </p:pic>
      <p:pic>
        <p:nvPicPr>
          <p:cNvPr id="18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4937" y="1379696"/>
            <a:ext cx="828945" cy="581215"/>
          </a:xfrm>
          <a:prstGeom prst="rect">
            <a:avLst/>
          </a:prstGeom>
        </p:spPr>
      </p:pic>
      <p:sp>
        <p:nvSpPr>
          <p:cNvPr id="182" name="TextBox 11"/>
          <p:cNvSpPr txBox="1"/>
          <p:nvPr/>
        </p:nvSpPr>
        <p:spPr>
          <a:xfrm>
            <a:off x="3330130" y="539591"/>
            <a:ext cx="5502497" cy="48215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75" b="1" i="0">
                <a:solidFill>
                  <a:srgbClr val="351100"/>
                </a:solidFill>
                <a:latin typeface="Noto Sans SC" panose="020B0500000000000000" charset="-122"/>
                <a:ea typeface="Noto Sans SC" panose="020B0500000000000000" charset="-122"/>
              </a:rPr>
              <a:t>目标用户:精准定位三大群体</a:t>
            </a:r>
            <a:endParaRPr sz="3375" b="1" i="0">
              <a:solidFill>
                <a:srgbClr val="3511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83" name="TextBox 12"/>
          <p:cNvSpPr txBox="1"/>
          <p:nvPr/>
        </p:nvSpPr>
        <p:spPr>
          <a:xfrm>
            <a:off x="1222152" y="2103310"/>
            <a:ext cx="1336452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25" b="1" i="0">
                <a:solidFill>
                  <a:srgbClr val="311001"/>
                </a:solidFill>
                <a:latin typeface="Noto Sans SC" panose="020B0500000000000000" charset="-122"/>
                <a:ea typeface="Noto Sans SC" panose="020B0500000000000000" charset="-122"/>
              </a:rPr>
              <a:t>K12学生</a:t>
            </a:r>
            <a:endParaRPr sz="2625" b="1" i="0">
              <a:solidFill>
                <a:srgbClr val="31100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84" name="TextBox 13"/>
          <p:cNvSpPr txBox="1"/>
          <p:nvPr/>
        </p:nvSpPr>
        <p:spPr>
          <a:xfrm>
            <a:off x="4797647" y="2103310"/>
            <a:ext cx="1688115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25" b="1" i="0">
                <a:solidFill>
                  <a:srgbClr val="331001"/>
                </a:solidFill>
                <a:latin typeface="Noto Sans SC" panose="020B0500000000000000" charset="-122"/>
                <a:ea typeface="Noto Sans SC" panose="020B0500000000000000" charset="-122"/>
              </a:rPr>
              <a:t>职业培训者</a:t>
            </a:r>
            <a:endParaRPr sz="2625" b="1" i="0">
              <a:solidFill>
                <a:srgbClr val="33100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85" name="TextBox 14"/>
          <p:cNvSpPr txBox="1"/>
          <p:nvPr/>
        </p:nvSpPr>
        <p:spPr>
          <a:xfrm>
            <a:off x="8373237" y="2103310"/>
            <a:ext cx="1717452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31001"/>
                </a:solidFill>
                <a:latin typeface="Noto Sans SC" panose="020B0500000000000000" charset="-122"/>
                <a:ea typeface="Noto Sans SC" panose="020B0500000000000000" charset="-122"/>
              </a:rPr>
              <a:t>终身学习者</a:t>
            </a:r>
            <a:endParaRPr sz="2700" b="1" i="0">
              <a:solidFill>
                <a:srgbClr val="33100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86" name="TextBox 15"/>
          <p:cNvSpPr txBox="1"/>
          <p:nvPr/>
        </p:nvSpPr>
        <p:spPr>
          <a:xfrm>
            <a:off x="1224343" y="2626137"/>
            <a:ext cx="2100262" cy="56407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10" b="0" i="0">
                <a:solidFill>
                  <a:srgbClr val="2A0C01"/>
                </a:solidFill>
                <a:latin typeface="Noto Sans SC" panose="020B0500000000000000" charset="-122"/>
                <a:ea typeface="Noto Sans SC" panose="020B0500000000000000" charset="-122"/>
              </a:rPr>
              <a:t>需要个性化辅导、提</a:t>
            </a:r>
            <a:endParaRPr sz="1610" b="0" i="0">
              <a:solidFill>
                <a:srgbClr val="2A0C01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635">
              <a:spcBef>
                <a:spcPts val="140"/>
              </a:spcBef>
            </a:pPr>
            <a:r>
              <a:rPr lang="zh-CN" sz="1610">
                <a:latin typeface="Noto Sans SC" panose="020B0500000000000000" charset="-122"/>
                <a:ea typeface="Noto Sans SC" panose="020B0500000000000000" charset="-122"/>
              </a:rPr>
              <a:t>高学习效率的中小学生</a:t>
            </a:r>
            <a:endParaRPr lang="zh-CN" sz="161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87" name="TextBox 16"/>
          <p:cNvSpPr txBox="1"/>
          <p:nvPr/>
        </p:nvSpPr>
        <p:spPr>
          <a:xfrm>
            <a:off x="4771263" y="2626899"/>
            <a:ext cx="1980247" cy="56330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10" b="0" i="0">
                <a:solidFill>
                  <a:srgbClr val="270A01"/>
                </a:solidFill>
                <a:latin typeface="Noto Sans SC" panose="020B0500000000000000" charset="-122"/>
                <a:ea typeface="Noto Sans SC" panose="020B0500000000000000" charset="-122"/>
              </a:rPr>
              <a:t>考证、技能提升、转</a:t>
            </a:r>
            <a:endParaRPr sz="1610" b="0" i="0">
              <a:solidFill>
                <a:srgbClr val="270A01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385"/>
              </a:spcBef>
            </a:pPr>
            <a:r>
              <a:rPr lang="zh-CN" sz="1610">
                <a:latin typeface="Noto Sans SC" panose="020B0500000000000000" charset="-122"/>
                <a:ea typeface="Noto Sans SC" panose="020B0500000000000000" charset="-122"/>
              </a:rPr>
              <a:t>转行学习人群</a:t>
            </a:r>
            <a:endParaRPr lang="zh-CN" sz="161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88" name="TextBox 17"/>
          <p:cNvSpPr txBox="1"/>
          <p:nvPr/>
        </p:nvSpPr>
        <p:spPr>
          <a:xfrm>
            <a:off x="8376094" y="2626899"/>
            <a:ext cx="2562320" cy="169687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9210" algn="ctr">
              <a:spcBef>
                <a:spcPts val="0"/>
              </a:spcBef>
              <a:spcAft>
                <a:spcPts val="0"/>
              </a:spcAft>
            </a:pPr>
            <a:r>
              <a:rPr sz="1625" b="0" i="0">
                <a:solidFill>
                  <a:srgbClr val="270A00"/>
                </a:solidFill>
                <a:latin typeface="Noto Sans SC" panose="020B0500000000000000" charset="-122"/>
                <a:ea typeface="Noto Sans SC" panose="020B0500000000000000" charset="-122"/>
              </a:rPr>
              <a:t>自主学习者、知识</a:t>
            </a:r>
            <a:endParaRPr sz="1625" b="0" i="0">
              <a:solidFill>
                <a:srgbClr val="270A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385"/>
              </a:spcBef>
            </a:pPr>
            <a:r>
              <a:rPr lang="zh-CN" sz="1625">
                <a:latin typeface="Noto Sans SC" panose="020B0500000000000000" charset="-122"/>
                <a:ea typeface="Noto Sans SC" panose="020B0500000000000000" charset="-122"/>
              </a:rPr>
              <a:t>付费用户</a:t>
            </a:r>
            <a:endParaRPr lang="zh-CN" sz="1625"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1590"/>
              </a:spcBef>
            </a:pPr>
            <a:r>
              <a:rPr lang="zh-CN" sz="1625">
                <a:latin typeface="Noto Sans SC" panose="020B0500000000000000" charset="-122"/>
                <a:ea typeface="Noto Sans SC" panose="020B0500000000000000" charset="-122"/>
              </a:rPr>
              <a:t>需求:</a:t>
            </a:r>
            <a:endParaRPr lang="zh-CN" sz="1625">
              <a:latin typeface="Noto Sans SC" panose="020B0500000000000000" charset="-122"/>
              <a:ea typeface="Noto Sans SC" panose="020B0500000000000000" charset="-122"/>
            </a:endParaRPr>
          </a:p>
          <a:p>
            <a:pPr marL="175260">
              <a:spcBef>
                <a:spcPts val="860"/>
              </a:spcBef>
            </a:pPr>
            <a:r>
              <a:rPr lang="zh-CN" sz="1625">
                <a:latin typeface="Noto Sans SC" panose="020B0500000000000000" charset="-122"/>
                <a:ea typeface="Noto Sans SC" panose="020B0500000000000000" charset="-122"/>
              </a:rPr>
              <a:t>追求知识宽度,广泛涉猎;</a:t>
            </a:r>
            <a:endParaRPr lang="zh-CN" sz="1625">
              <a:latin typeface="Noto Sans SC" panose="020B0500000000000000" charset="-122"/>
              <a:ea typeface="Noto Sans SC" panose="020B0500000000000000" charset="-122"/>
            </a:endParaRPr>
          </a:p>
          <a:p>
            <a:pPr marL="175260"/>
            <a:r>
              <a:rPr lang="zh-CN" sz="1625">
                <a:latin typeface="Noto Sans SC" panose="020B0500000000000000" charset="-122"/>
                <a:ea typeface="Noto Sans SC" panose="020B0500000000000000" charset="-122"/>
              </a:rPr>
              <a:t>希望持续提升个人竞争力;</a:t>
            </a:r>
            <a:endParaRPr lang="zh-CN" sz="1625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89" name="TextBox 18"/>
          <p:cNvSpPr txBox="1"/>
          <p:nvPr/>
        </p:nvSpPr>
        <p:spPr>
          <a:xfrm>
            <a:off x="1225105" y="3392233"/>
            <a:ext cx="539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391601"/>
                </a:solidFill>
                <a:latin typeface="Noto Sans SC" panose="020B0500000000000000" charset="-122"/>
                <a:ea typeface="Noto Sans SC" panose="020B0500000000000000" charset="-122"/>
              </a:rPr>
              <a:t>需求:</a:t>
            </a:r>
            <a:endParaRPr sz="1725" b="1" i="0">
              <a:solidFill>
                <a:srgbClr val="39160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90" name="TextBox 19"/>
          <p:cNvSpPr txBox="1"/>
          <p:nvPr/>
        </p:nvSpPr>
        <p:spPr>
          <a:xfrm>
            <a:off x="4800600" y="3392233"/>
            <a:ext cx="539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371501"/>
                </a:solidFill>
                <a:latin typeface="Noto Sans SC" panose="020B0500000000000000" charset="-122"/>
                <a:ea typeface="Noto Sans SC" panose="020B0500000000000000" charset="-122"/>
              </a:rPr>
              <a:t>要求:</a:t>
            </a:r>
            <a:endParaRPr sz="1725" b="1" i="0">
              <a:solidFill>
                <a:srgbClr val="37150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91" name="TextBox 20"/>
          <p:cNvSpPr txBox="1"/>
          <p:nvPr/>
        </p:nvSpPr>
        <p:spPr>
          <a:xfrm>
            <a:off x="4944808" y="3758850"/>
            <a:ext cx="2691336" cy="145199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1905" algn="just">
              <a:spcBef>
                <a:spcPts val="0"/>
              </a:spcBef>
              <a:spcAft>
                <a:spcPts val="0"/>
              </a:spcAft>
            </a:pPr>
            <a:r>
              <a:rPr sz="1675" b="0" i="0">
                <a:solidFill>
                  <a:srgbClr val="0B0E15"/>
                </a:solidFill>
                <a:latin typeface="Noto Sans SC" panose="020B0500000000000000" charset="-122"/>
                <a:ea typeface="Noto Sans SC" panose="020B0500000000000000" charset="-122"/>
              </a:rPr>
              <a:t>时间碎片化,需要灵活学习;</a:t>
            </a:r>
            <a:endParaRPr sz="1675" b="0" i="0">
              <a:solidFill>
                <a:srgbClr val="0B0E15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31750">
              <a:spcBef>
                <a:spcPts val="140"/>
              </a:spcBef>
            </a:pPr>
            <a:r>
              <a:rPr lang="zh-CN" sz="1675">
                <a:latin typeface="Noto Sans SC" panose="020B0500000000000000" charset="-122"/>
                <a:ea typeface="Noto Sans SC" panose="020B0500000000000000" charset="-122"/>
              </a:rPr>
              <a:t>技能认证需求明确,学习</a:t>
            </a:r>
            <a:endParaRPr lang="zh-CN" sz="1675">
              <a:latin typeface="Noto Sans SC" panose="020B0500000000000000" charset="-122"/>
              <a:ea typeface="Noto Sans SC" panose="020B0500000000000000" charset="-122"/>
            </a:endParaRPr>
          </a:p>
          <a:p>
            <a:pPr marL="31115">
              <a:spcBef>
                <a:spcPts val="140"/>
              </a:spcBef>
            </a:pPr>
            <a:r>
              <a:rPr lang="zh-CN" sz="1675">
                <a:latin typeface="Noto Sans SC" panose="020B0500000000000000" charset="-122"/>
                <a:ea typeface="Noto Sans SC" panose="020B0500000000000000" charset="-122"/>
              </a:rPr>
              <a:t>学目标驱动;</a:t>
            </a:r>
            <a:endParaRPr lang="zh-CN" sz="1675">
              <a:latin typeface="Noto Sans SC" panose="020B0500000000000000" charset="-122"/>
              <a:ea typeface="Noto Sans SC" panose="020B0500000000000000" charset="-122"/>
            </a:endParaRPr>
          </a:p>
          <a:p>
            <a:r>
              <a:rPr lang="zh-CN" sz="1675">
                <a:latin typeface="Noto Sans SC" panose="020B0500000000000000" charset="-122"/>
                <a:ea typeface="Noto Sans SC" panose="020B0500000000000000" charset="-122"/>
              </a:rPr>
              <a:t>渴望快速看到学习效果和</a:t>
            </a:r>
            <a:endParaRPr lang="zh-CN" sz="1675">
              <a:latin typeface="Noto Sans SC" panose="020B0500000000000000" charset="-122"/>
              <a:ea typeface="Noto Sans SC" panose="020B0500000000000000" charset="-122"/>
            </a:endParaRPr>
          </a:p>
          <a:p>
            <a:pPr marL="31750">
              <a:spcBef>
                <a:spcPts val="250"/>
              </a:spcBef>
            </a:pPr>
            <a:r>
              <a:rPr lang="zh-CN" sz="1675">
                <a:latin typeface="Noto Sans SC" panose="020B0500000000000000" charset="-122"/>
                <a:ea typeface="Noto Sans SC" panose="020B0500000000000000" charset="-122"/>
              </a:rPr>
              <a:t>进步</a:t>
            </a:r>
            <a:endParaRPr lang="zh-CN" sz="1675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92" name="TextBox 21"/>
          <p:cNvSpPr txBox="1"/>
          <p:nvPr/>
        </p:nvSpPr>
        <p:spPr>
          <a:xfrm>
            <a:off x="1371600" y="3759612"/>
            <a:ext cx="2502884" cy="145122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A0D12"/>
                </a:solidFill>
                <a:latin typeface="Noto Sans SC" panose="020B0500000000000000" charset="-122"/>
                <a:ea typeface="Noto Sans SC" panose="020B0500000000000000" charset="-122"/>
              </a:rPr>
              <a:t>课业压力大,需要高效</a:t>
            </a:r>
            <a:endParaRPr sz="1700" b="0" i="0">
              <a:solidFill>
                <a:srgbClr val="0A0D12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29210">
              <a:spcBef>
                <a:spcPts val="385"/>
              </a:spcBef>
            </a:pPr>
            <a:r>
              <a:rPr lang="zh-CN" sz="1700">
                <a:latin typeface="Noto Sans SC" panose="020B0500000000000000" charset="-122"/>
                <a:ea typeface="Noto Sans SC" panose="020B0500000000000000" charset="-122"/>
              </a:rPr>
              <a:t>学习方法;知识薄弱点不</a:t>
            </a:r>
            <a:endParaRPr lang="zh-CN" sz="1700"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145"/>
              </a:spcBef>
            </a:pPr>
            <a:r>
              <a:rPr lang="zh-CN" sz="1700">
                <a:latin typeface="Noto Sans SC" panose="020B0500000000000000" charset="-122"/>
                <a:ea typeface="Noto Sans SC" panose="020B0500000000000000" charset="-122"/>
              </a:rPr>
              <a:t>清晰</a:t>
            </a:r>
            <a:endParaRPr lang="zh-CN" sz="1700"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385"/>
              </a:spcBef>
            </a:pPr>
            <a:r>
              <a:rPr lang="zh-CN" sz="1700">
                <a:latin typeface="Noto Sans SC" panose="020B0500000000000000" charset="-122"/>
                <a:ea typeface="Noto Sans SC" panose="020B0500000000000000" charset="-122"/>
              </a:rPr>
              <a:t>学习针对性差;缺乏实时答</a:t>
            </a:r>
            <a:endParaRPr lang="zh-CN" sz="1700">
              <a:latin typeface="Noto Sans SC" panose="020B0500000000000000" charset="-122"/>
              <a:ea typeface="Noto Sans SC" panose="020B0500000000000000" charset="-122"/>
            </a:endParaRPr>
          </a:p>
          <a:p>
            <a:pPr marL="29210">
              <a:spcBef>
                <a:spcPts val="385"/>
              </a:spcBef>
            </a:pPr>
            <a:r>
              <a:rPr lang="zh-CN" sz="1700">
                <a:latin typeface="Noto Sans SC" panose="020B0500000000000000" charset="-122"/>
                <a:ea typeface="Noto Sans SC" panose="020B0500000000000000" charset="-122"/>
              </a:rPr>
              <a:t>疑渠道,问题堆积</a:t>
            </a:r>
            <a:endParaRPr lang="zh-CN" sz="170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93" name="TextBox 22"/>
          <p:cNvSpPr txBox="1"/>
          <p:nvPr/>
        </p:nvSpPr>
        <p:spPr>
          <a:xfrm>
            <a:off x="8552021" y="4647533"/>
            <a:ext cx="188737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A0C10"/>
                </a:solidFill>
                <a:latin typeface="Noto Sans SC" panose="020B0500000000000000" charset="-122"/>
                <a:ea typeface="Noto Sans SC" panose="020B0500000000000000" charset="-122"/>
              </a:rPr>
              <a:t>愿意为优质内容付费</a:t>
            </a:r>
            <a:endParaRPr sz="1650" b="0" i="0">
              <a:solidFill>
                <a:srgbClr val="0A0C1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94" name="TextBox 23"/>
          <p:cNvSpPr txBox="1"/>
          <p:nvPr/>
        </p:nvSpPr>
        <p:spPr>
          <a:xfrm>
            <a:off x="3713321" y="5930360"/>
            <a:ext cx="4736115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3F2001"/>
                </a:solidFill>
                <a:latin typeface="Noto Sans SC" panose="020B0500000000000000" charset="-122"/>
                <a:ea typeface="Noto Sans SC" panose="020B0500000000000000" charset="-122"/>
              </a:rPr>
              <a:t>覆盖全年龄段,构建终身学习闭环</a:t>
            </a:r>
            <a:endParaRPr sz="2550" b="1" i="0">
              <a:solidFill>
                <a:srgbClr val="3F200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7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268" y="2997612"/>
            <a:ext cx="1366140" cy="953452"/>
          </a:xfrm>
          <a:prstGeom prst="rect">
            <a:avLst/>
          </a:prstGeom>
        </p:spPr>
      </p:pic>
      <p:pic>
        <p:nvPicPr>
          <p:cNvPr id="198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65" y="4714494"/>
            <a:ext cx="1489028" cy="694563"/>
          </a:xfrm>
          <a:prstGeom prst="rect">
            <a:avLst/>
          </a:prstGeom>
        </p:spPr>
      </p:pic>
      <p:pic>
        <p:nvPicPr>
          <p:cNvPr id="199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60" y="3064573"/>
            <a:ext cx="1482698" cy="691610"/>
          </a:xfrm>
          <a:prstGeom prst="rect">
            <a:avLst/>
          </a:prstGeom>
        </p:spPr>
      </p:pic>
      <p:pic>
        <p:nvPicPr>
          <p:cNvPr id="200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20" y="1398710"/>
            <a:ext cx="1486471" cy="686063"/>
          </a:xfrm>
          <a:prstGeom prst="rect">
            <a:avLst/>
          </a:prstGeom>
        </p:spPr>
      </p:pic>
      <p:pic>
        <p:nvPicPr>
          <p:cNvPr id="201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5877" y="4538721"/>
            <a:ext cx="813720" cy="956477"/>
          </a:xfrm>
          <a:prstGeom prst="rect">
            <a:avLst/>
          </a:prstGeom>
        </p:spPr>
      </p:pic>
      <p:pic>
        <p:nvPicPr>
          <p:cNvPr id="202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8671" y="3005994"/>
            <a:ext cx="868568" cy="863822"/>
          </a:xfrm>
          <a:prstGeom prst="rect">
            <a:avLst/>
          </a:prstGeom>
        </p:spPr>
      </p:pic>
      <p:pic>
        <p:nvPicPr>
          <p:cNvPr id="203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3134" y="3002649"/>
            <a:ext cx="792480" cy="944332"/>
          </a:xfrm>
          <a:prstGeom prst="rect">
            <a:avLst/>
          </a:prstGeom>
        </p:spPr>
      </p:pic>
      <p:pic>
        <p:nvPicPr>
          <p:cNvPr id="204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5701" y="1607153"/>
            <a:ext cx="1128034" cy="258508"/>
          </a:xfrm>
          <a:prstGeom prst="rect">
            <a:avLst/>
          </a:prstGeom>
        </p:spPr>
      </p:pic>
      <p:pic>
        <p:nvPicPr>
          <p:cNvPr id="205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24030" y="3253835"/>
            <a:ext cx="687602" cy="331946"/>
          </a:xfrm>
          <a:prstGeom prst="rect">
            <a:avLst/>
          </a:prstGeom>
        </p:spPr>
      </p:pic>
      <p:pic>
        <p:nvPicPr>
          <p:cNvPr id="206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4844" y="3251835"/>
            <a:ext cx="687760" cy="327279"/>
          </a:xfrm>
          <a:prstGeom prst="rect">
            <a:avLst/>
          </a:prstGeom>
        </p:spPr>
      </p:pic>
      <p:pic>
        <p:nvPicPr>
          <p:cNvPr id="207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1344" y="3249810"/>
            <a:ext cx="667416" cy="333708"/>
          </a:xfrm>
          <a:prstGeom prst="rect">
            <a:avLst/>
          </a:prstGeom>
        </p:spPr>
      </p:pic>
      <p:pic>
        <p:nvPicPr>
          <p:cNvPr id="208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7511" y="1623112"/>
            <a:ext cx="769334" cy="237448"/>
          </a:xfrm>
          <a:prstGeom prst="rect">
            <a:avLst/>
          </a:prstGeom>
        </p:spPr>
      </p:pic>
      <p:pic>
        <p:nvPicPr>
          <p:cNvPr id="209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7355" y="4954428"/>
            <a:ext cx="741210" cy="217170"/>
          </a:xfrm>
          <a:prstGeom prst="rect">
            <a:avLst/>
          </a:prstGeom>
        </p:spPr>
      </p:pic>
      <p:pic>
        <p:nvPicPr>
          <p:cNvPr id="210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86463" y="4952081"/>
            <a:ext cx="751903" cy="214149"/>
          </a:xfrm>
          <a:prstGeom prst="rect">
            <a:avLst/>
          </a:prstGeom>
        </p:spPr>
      </p:pic>
      <p:sp>
        <p:nvSpPr>
          <p:cNvPr id="211" name="TextBox 16"/>
          <p:cNvSpPr txBox="1"/>
          <p:nvPr/>
        </p:nvSpPr>
        <p:spPr>
          <a:xfrm>
            <a:off x="3565302" y="448532"/>
            <a:ext cx="5032152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2B0600"/>
                </a:solidFill>
                <a:latin typeface="Noto Sans SC" panose="020B0500000000000000" charset="-122"/>
                <a:ea typeface="Noto Sans SC" panose="020B0500000000000000" charset="-122"/>
              </a:rPr>
              <a:t>典型场景:AI陪伴学习全流程</a:t>
            </a:r>
            <a:endParaRPr sz="3225" b="1" i="0">
              <a:solidFill>
                <a:srgbClr val="2B06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12" name="TextBox 17"/>
          <p:cNvSpPr txBox="1"/>
          <p:nvPr/>
        </p:nvSpPr>
        <p:spPr>
          <a:xfrm>
            <a:off x="3010662" y="1522380"/>
            <a:ext cx="2390013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250601"/>
                </a:solidFill>
                <a:latin typeface="Noto Sans SC" panose="020B0500000000000000" charset="-122"/>
                <a:ea typeface="Noto Sans SC" panose="020B0500000000000000" charset="-122"/>
              </a:rPr>
              <a:t>AI诊断知识薄弱点</a:t>
            </a:r>
            <a:endParaRPr sz="2250" b="1" i="0">
              <a:solidFill>
                <a:srgbClr val="25060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13" name="TextBox 18"/>
          <p:cNvSpPr txBox="1"/>
          <p:nvPr/>
        </p:nvSpPr>
        <p:spPr>
          <a:xfrm>
            <a:off x="6820662" y="1522380"/>
            <a:ext cx="2624518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270600"/>
                </a:solidFill>
                <a:latin typeface="Noto Sans SC" panose="020B0500000000000000" charset="-122"/>
                <a:ea typeface="Noto Sans SC" panose="020B0500000000000000" charset="-122"/>
              </a:rPr>
              <a:t>生成个性化学习计划</a:t>
            </a:r>
            <a:endParaRPr sz="2175" b="1" i="0">
              <a:solidFill>
                <a:srgbClr val="2706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14" name="TextBox 19"/>
          <p:cNvSpPr txBox="1"/>
          <p:nvPr/>
        </p:nvSpPr>
        <p:spPr>
          <a:xfrm>
            <a:off x="871156" y="1552956"/>
            <a:ext cx="924687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0901"/>
                </a:solidFill>
                <a:latin typeface="Noto Sans SC" panose="020B0500000000000000" charset="-122"/>
                <a:ea typeface="Noto Sans SC" panose="020B0500000000000000" charset="-122"/>
              </a:rPr>
              <a:t>学习前</a:t>
            </a:r>
            <a:endParaRPr sz="2400" b="1" i="0">
              <a:solidFill>
                <a:srgbClr val="2C090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15" name="TextBox 20"/>
          <p:cNvSpPr txBox="1"/>
          <p:nvPr/>
        </p:nvSpPr>
        <p:spPr>
          <a:xfrm>
            <a:off x="6822090" y="1952529"/>
            <a:ext cx="2387155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A313E"/>
                </a:solidFill>
                <a:latin typeface="Noto Sans SC" panose="020B0500000000000000" charset="-122"/>
                <a:ea typeface="Noto Sans SC" panose="020B0500000000000000" charset="-122"/>
              </a:rPr>
              <a:t>诊断流程和计划生成依据</a:t>
            </a:r>
            <a:endParaRPr sz="1575" b="0" i="0">
              <a:solidFill>
                <a:srgbClr val="2A313E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16" name="TextBox 21"/>
          <p:cNvSpPr txBox="1"/>
          <p:nvPr/>
        </p:nvSpPr>
        <p:spPr>
          <a:xfrm>
            <a:off x="871156" y="3206305"/>
            <a:ext cx="924687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0800"/>
                </a:solidFill>
                <a:latin typeface="Noto Sans SC" panose="020B0500000000000000" charset="-122"/>
                <a:ea typeface="Noto Sans SC" panose="020B0500000000000000" charset="-122"/>
              </a:rPr>
              <a:t>学习中</a:t>
            </a:r>
            <a:endParaRPr sz="2400" b="1" i="0">
              <a:solidFill>
                <a:srgbClr val="2C08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17" name="TextBox 22"/>
          <p:cNvSpPr txBox="1"/>
          <p:nvPr/>
        </p:nvSpPr>
        <p:spPr>
          <a:xfrm>
            <a:off x="2922746" y="3206305"/>
            <a:ext cx="2067687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280700"/>
                </a:solidFill>
                <a:latin typeface="Noto Sans SC" panose="020B0500000000000000" charset="-122"/>
                <a:ea typeface="Noto Sans SC" panose="020B0500000000000000" charset="-122"/>
              </a:rPr>
              <a:t>智能讲解重难点</a:t>
            </a:r>
            <a:endParaRPr sz="2325" b="1" i="0">
              <a:solidFill>
                <a:srgbClr val="2807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18" name="TextBox 23"/>
          <p:cNvSpPr txBox="1"/>
          <p:nvPr/>
        </p:nvSpPr>
        <p:spPr>
          <a:xfrm>
            <a:off x="6556819" y="3206305"/>
            <a:ext cx="1803844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250600"/>
                </a:solidFill>
                <a:latin typeface="Noto Sans SC" panose="020B0500000000000000" charset="-122"/>
                <a:ea typeface="Noto Sans SC" panose="020B0500000000000000" charset="-122"/>
              </a:rPr>
              <a:t>实时答疑解惑</a:t>
            </a:r>
            <a:endParaRPr sz="2325" b="1" i="0">
              <a:solidFill>
                <a:srgbClr val="2506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19" name="TextBox 24"/>
          <p:cNvSpPr txBox="1"/>
          <p:nvPr/>
        </p:nvSpPr>
        <p:spPr>
          <a:xfrm>
            <a:off x="9956577" y="3206305"/>
            <a:ext cx="1422844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2B0901"/>
                </a:solidFill>
                <a:latin typeface="Noto Sans SC" panose="020B0500000000000000" charset="-122"/>
                <a:ea typeface="Noto Sans SC" panose="020B0500000000000000" charset="-122"/>
              </a:rPr>
              <a:t>自适应练习</a:t>
            </a:r>
            <a:endParaRPr sz="2175" b="1" i="0">
              <a:solidFill>
                <a:srgbClr val="2B090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20" name="TextBox 25"/>
          <p:cNvSpPr txBox="1"/>
          <p:nvPr/>
        </p:nvSpPr>
        <p:spPr>
          <a:xfrm>
            <a:off x="9958768" y="3637216"/>
            <a:ext cx="133054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82D3B"/>
                </a:solidFill>
                <a:latin typeface="Noto Sans SC" panose="020B0500000000000000" charset="-122"/>
                <a:ea typeface="Noto Sans SC" panose="020B0500000000000000" charset="-122"/>
              </a:rPr>
              <a:t>AI实际陪伴感</a:t>
            </a:r>
            <a:endParaRPr sz="1650" b="0" i="0">
              <a:solidFill>
                <a:srgbClr val="282D3B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21" name="TextBox 26"/>
          <p:cNvSpPr txBox="1"/>
          <p:nvPr/>
        </p:nvSpPr>
        <p:spPr>
          <a:xfrm>
            <a:off x="6849903" y="4798314"/>
            <a:ext cx="3415855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2D0E05"/>
                </a:solidFill>
                <a:latin typeface="Noto Sans SC" panose="020B0500000000000000" charset="-122"/>
                <a:ea typeface="Noto Sans SC" panose="020B0500000000000000" charset="-122"/>
              </a:rPr>
              <a:t>错题智能推荐+下阶段规划</a:t>
            </a:r>
            <a:endParaRPr sz="2250" b="1" i="0">
              <a:solidFill>
                <a:srgbClr val="2D0E05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22" name="TextBox 27"/>
          <p:cNvSpPr txBox="1"/>
          <p:nvPr/>
        </p:nvSpPr>
        <p:spPr>
          <a:xfrm>
            <a:off x="871156" y="4859559"/>
            <a:ext cx="924687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0800"/>
                </a:solidFill>
                <a:latin typeface="Noto Sans SC" panose="020B0500000000000000" charset="-122"/>
                <a:ea typeface="Noto Sans SC" panose="020B0500000000000000" charset="-122"/>
              </a:rPr>
              <a:t>学习后</a:t>
            </a:r>
            <a:endParaRPr sz="2400" b="0" i="0">
              <a:solidFill>
                <a:srgbClr val="2C08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23" name="TextBox 28"/>
          <p:cNvSpPr txBox="1"/>
          <p:nvPr/>
        </p:nvSpPr>
        <p:spPr>
          <a:xfrm>
            <a:off x="3069240" y="4859559"/>
            <a:ext cx="1803844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260600"/>
                </a:solidFill>
                <a:latin typeface="Noto Sans SC" panose="020B0500000000000000" charset="-122"/>
                <a:ea typeface="Noto Sans SC" panose="020B0500000000000000" charset="-122"/>
              </a:rPr>
              <a:t>学情分析报告</a:t>
            </a:r>
            <a:endParaRPr sz="2325" b="1" i="0">
              <a:solidFill>
                <a:srgbClr val="2606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24" name="TextBox 29"/>
          <p:cNvSpPr txBox="1"/>
          <p:nvPr/>
        </p:nvSpPr>
        <p:spPr>
          <a:xfrm>
            <a:off x="6852094" y="5259800"/>
            <a:ext cx="247354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72E3C"/>
                </a:solidFill>
                <a:latin typeface="Noto Sans SC" panose="020B0500000000000000" charset="-122"/>
                <a:ea typeface="Noto Sans SC" panose="020B0500000000000000" charset="-122"/>
              </a:rPr>
              <a:t>如何帮助用户形成学习闭环</a:t>
            </a:r>
            <a:endParaRPr sz="1500" b="0" i="0">
              <a:solidFill>
                <a:srgbClr val="272E3C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25" name="TextBox 30"/>
          <p:cNvSpPr txBox="1"/>
          <p:nvPr/>
        </p:nvSpPr>
        <p:spPr>
          <a:xfrm>
            <a:off x="3009138" y="5898927"/>
            <a:ext cx="6173628" cy="41786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 i="0">
                <a:solidFill>
                  <a:srgbClr val="270600"/>
                </a:solidFill>
                <a:latin typeface="Noto Sans SC" panose="020B0500000000000000" charset="-122"/>
                <a:ea typeface="Noto Sans SC" panose="020B0500000000000000" charset="-122"/>
              </a:rPr>
              <a:t>AI全流程陪伴,让学习更系统、更高效</a:t>
            </a:r>
            <a:endParaRPr sz="2925" b="1" i="0">
              <a:solidFill>
                <a:srgbClr val="2706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8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07" y="1275457"/>
            <a:ext cx="5447538" cy="2209490"/>
          </a:xfrm>
          <a:prstGeom prst="rect">
            <a:avLst/>
          </a:prstGeom>
        </p:spPr>
      </p:pic>
      <p:pic>
        <p:nvPicPr>
          <p:cNvPr id="229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65" y="3725894"/>
            <a:ext cx="5444363" cy="2206275"/>
          </a:xfrm>
          <a:prstGeom prst="rect">
            <a:avLst/>
          </a:prstGeom>
        </p:spPr>
      </p:pic>
      <p:pic>
        <p:nvPicPr>
          <p:cNvPr id="230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722" y="1273873"/>
            <a:ext cx="5358413" cy="2208085"/>
          </a:xfrm>
          <a:prstGeom prst="rect">
            <a:avLst/>
          </a:prstGeom>
        </p:spPr>
      </p:pic>
      <p:pic>
        <p:nvPicPr>
          <p:cNvPr id="231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9545" y="3729560"/>
            <a:ext cx="5365718" cy="2204372"/>
          </a:xfrm>
          <a:prstGeom prst="rect">
            <a:avLst/>
          </a:prstGeom>
        </p:spPr>
      </p:pic>
      <p:pic>
        <p:nvPicPr>
          <p:cNvPr id="232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946" y="1033938"/>
            <a:ext cx="1019767" cy="535971"/>
          </a:xfrm>
          <a:prstGeom prst="rect">
            <a:avLst/>
          </a:prstGeom>
        </p:spPr>
      </p:pic>
      <p:pic>
        <p:nvPicPr>
          <p:cNvPr id="233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441" y="1534668"/>
            <a:ext cx="840713" cy="641222"/>
          </a:xfrm>
          <a:prstGeom prst="rect">
            <a:avLst/>
          </a:prstGeom>
        </p:spPr>
      </p:pic>
      <p:pic>
        <p:nvPicPr>
          <p:cNvPr id="234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999" y="3954589"/>
            <a:ext cx="702435" cy="692943"/>
          </a:xfrm>
          <a:prstGeom prst="rect">
            <a:avLst/>
          </a:prstGeom>
        </p:spPr>
      </p:pic>
      <p:pic>
        <p:nvPicPr>
          <p:cNvPr id="235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0917" y="3953827"/>
            <a:ext cx="682699" cy="692181"/>
          </a:xfrm>
          <a:prstGeom prst="rect">
            <a:avLst/>
          </a:prstGeom>
        </p:spPr>
      </p:pic>
      <p:pic>
        <p:nvPicPr>
          <p:cNvPr id="236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0081" y="1505192"/>
            <a:ext cx="684371" cy="689123"/>
          </a:xfrm>
          <a:prstGeom prst="rect">
            <a:avLst/>
          </a:prstGeom>
        </p:spPr>
      </p:pic>
      <p:sp>
        <p:nvSpPr>
          <p:cNvPr id="237" name="TextBox 11"/>
          <p:cNvSpPr txBox="1"/>
          <p:nvPr/>
        </p:nvSpPr>
        <p:spPr>
          <a:xfrm>
            <a:off x="515778" y="355187"/>
            <a:ext cx="5621178" cy="5143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300E00"/>
                </a:solidFill>
                <a:latin typeface="Noto Sans SC" panose="020B0500000000000000" charset="-122"/>
                <a:ea typeface="Noto Sans SC" panose="020B0500000000000000" charset="-122"/>
              </a:rPr>
              <a:t>数据支撑层:四大核心模块</a:t>
            </a:r>
            <a:endParaRPr sz="3900" b="1" i="0">
              <a:solidFill>
                <a:srgbClr val="300E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38" name="TextBox 13"/>
          <p:cNvSpPr txBox="1"/>
          <p:nvPr/>
        </p:nvSpPr>
        <p:spPr>
          <a:xfrm>
            <a:off x="2039112" y="1548384"/>
            <a:ext cx="2486787" cy="54654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2D0E00"/>
                </a:solidFill>
                <a:latin typeface="Noto Sans SC" panose="020B0500000000000000" charset="-122"/>
                <a:ea typeface="Noto Sans SC" panose="020B0500000000000000" charset="-122"/>
              </a:rPr>
              <a:t>课程知识库</a:t>
            </a:r>
            <a:endParaRPr sz="3900" b="1" i="0">
              <a:solidFill>
                <a:srgbClr val="2D0E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39" name="TextBox 14"/>
          <p:cNvSpPr txBox="1"/>
          <p:nvPr/>
        </p:nvSpPr>
        <p:spPr>
          <a:xfrm>
            <a:off x="7636859" y="1548384"/>
            <a:ext cx="2486787" cy="54644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300D00"/>
                </a:solidFill>
                <a:latin typeface="Noto Sans SC" panose="020B0500000000000000" charset="-122"/>
                <a:ea typeface="Noto Sans SC" panose="020B0500000000000000" charset="-122"/>
              </a:rPr>
              <a:t>学生画像库</a:t>
            </a:r>
            <a:endParaRPr sz="3900" b="1" i="0">
              <a:solidFill>
                <a:srgbClr val="300D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40" name="TextBox 15"/>
          <p:cNvSpPr txBox="1"/>
          <p:nvPr/>
        </p:nvSpPr>
        <p:spPr>
          <a:xfrm>
            <a:off x="7171563" y="2317623"/>
            <a:ext cx="2713862" cy="996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325" b="0" i="0">
                <a:solidFill>
                  <a:srgbClr val="18120E"/>
                </a:solidFill>
                <a:latin typeface="Noto Sans SC" panose="020B0500000000000000" charset="-122"/>
                <a:ea typeface="Noto Sans SC" panose="020B0500000000000000" charset="-122"/>
              </a:rPr>
              <a:t>用户行为&amp;能力数据</a:t>
            </a:r>
            <a:endParaRPr sz="2325" b="0" i="0">
              <a:solidFill>
                <a:srgbClr val="18120E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635"/>
            <a:r>
              <a:rPr lang="zh-CN" sz="2325">
                <a:latin typeface="Noto Sans SC" panose="020B0500000000000000" charset="-122"/>
                <a:ea typeface="Noto Sans SC" panose="020B0500000000000000" charset="-122"/>
              </a:rPr>
              <a:t>学习偏好分析</a:t>
            </a:r>
            <a:endParaRPr lang="zh-CN" sz="2325">
              <a:latin typeface="Noto Sans SC" panose="020B0500000000000000" charset="-122"/>
              <a:ea typeface="Noto Sans SC" panose="020B0500000000000000" charset="-122"/>
            </a:endParaRPr>
          </a:p>
          <a:p>
            <a:pPr marL="1270"/>
            <a:r>
              <a:rPr lang="zh-CN" sz="2325">
                <a:latin typeface="Noto Sans SC" panose="020B0500000000000000" charset="-122"/>
                <a:ea typeface="Noto Sans SC" panose="020B0500000000000000" charset="-122"/>
              </a:rPr>
              <a:t>能力水平评估</a:t>
            </a:r>
            <a:endParaRPr lang="zh-CN" sz="2325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41" name="TextBox 16"/>
          <p:cNvSpPr txBox="1"/>
          <p:nvPr/>
        </p:nvSpPr>
        <p:spPr>
          <a:xfrm>
            <a:off x="1424844" y="2323719"/>
            <a:ext cx="2924175" cy="99050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11100E"/>
                </a:solidFill>
                <a:latin typeface="Noto Sans SC" panose="020B0500000000000000" charset="-122"/>
                <a:ea typeface="Noto Sans SC" panose="020B0500000000000000" charset="-122"/>
              </a:rPr>
              <a:t>PDF/文档Embedding</a:t>
            </a:r>
            <a:endParaRPr sz="2250" b="0" i="0">
              <a:solidFill>
                <a:srgbClr val="11100E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1270"/>
            <a:r>
              <a:rPr lang="zh-CN" sz="2250">
                <a:latin typeface="Noto Sans SC" panose="020B0500000000000000" charset="-122"/>
                <a:ea typeface="Noto Sans SC" panose="020B0500000000000000" charset="-122"/>
              </a:rPr>
              <a:t>结构化课程内容存储</a:t>
            </a:r>
            <a:endParaRPr lang="zh-CN" sz="2250">
              <a:latin typeface="Noto Sans SC" panose="020B0500000000000000" charset="-122"/>
              <a:ea typeface="Noto Sans SC" panose="020B0500000000000000" charset="-122"/>
            </a:endParaRPr>
          </a:p>
          <a:p>
            <a:pPr marL="3810"/>
            <a:r>
              <a:rPr lang="zh-CN" sz="2250">
                <a:latin typeface="Noto Sans SC" panose="020B0500000000000000" charset="-122"/>
                <a:ea typeface="Noto Sans SC" panose="020B0500000000000000" charset="-122"/>
              </a:rPr>
              <a:t>支持快速检索与匹配</a:t>
            </a:r>
            <a:endParaRPr lang="zh-CN" sz="225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42" name="TextBox 17"/>
          <p:cNvSpPr txBox="1"/>
          <p:nvPr/>
        </p:nvSpPr>
        <p:spPr>
          <a:xfrm>
            <a:off x="1921859" y="3997737"/>
            <a:ext cx="2955702" cy="54654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825" b="1" i="0">
                <a:solidFill>
                  <a:srgbClr val="280E00"/>
                </a:solidFill>
                <a:latin typeface="Noto Sans SC" panose="020B0500000000000000" charset="-122"/>
                <a:ea typeface="Noto Sans SC" panose="020B0500000000000000" charset="-122"/>
              </a:rPr>
              <a:t>生成资源缓存</a:t>
            </a:r>
            <a:endParaRPr sz="3825" b="1" i="0">
              <a:solidFill>
                <a:srgbClr val="280E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43" name="TextBox 18"/>
          <p:cNvSpPr txBox="1"/>
          <p:nvPr/>
        </p:nvSpPr>
        <p:spPr>
          <a:xfrm>
            <a:off x="7636859" y="3997737"/>
            <a:ext cx="1988534" cy="54654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825" b="1" i="0">
                <a:solidFill>
                  <a:srgbClr val="280E00"/>
                </a:solidFill>
                <a:latin typeface="Noto Sans SC" panose="020B0500000000000000" charset="-122"/>
                <a:ea typeface="Noto Sans SC" panose="020B0500000000000000" charset="-122"/>
              </a:rPr>
              <a:t>知识图谱</a:t>
            </a:r>
            <a:endParaRPr sz="3825" b="1" i="0">
              <a:solidFill>
                <a:srgbClr val="280E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44" name="TextBox 19"/>
          <p:cNvSpPr txBox="1"/>
          <p:nvPr/>
        </p:nvSpPr>
        <p:spPr>
          <a:xfrm>
            <a:off x="7171563" y="4766881"/>
            <a:ext cx="2655284" cy="99726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15110A"/>
                </a:solidFill>
                <a:latin typeface="Noto Sans SC" panose="020B0500000000000000" charset="-122"/>
                <a:ea typeface="Noto Sans SC" panose="020B0500000000000000" charset="-122"/>
              </a:rPr>
              <a:t>课程之间的结构关系</a:t>
            </a:r>
            <a:endParaRPr sz="2175" b="0" i="0">
              <a:solidFill>
                <a:srgbClr val="15110A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1270"/>
            <a:r>
              <a:rPr lang="zh-CN" sz="2175">
                <a:latin typeface="Noto Sans SC" panose="020B0500000000000000" charset="-122"/>
                <a:ea typeface="Noto Sans SC" panose="020B0500000000000000" charset="-122"/>
              </a:rPr>
              <a:t>知识点关联网络</a:t>
            </a:r>
            <a:endParaRPr lang="zh-CN" sz="2175">
              <a:latin typeface="Noto Sans SC" panose="020B0500000000000000" charset="-122"/>
              <a:ea typeface="Noto Sans SC" panose="020B0500000000000000" charset="-122"/>
            </a:endParaRPr>
          </a:p>
          <a:p>
            <a:pPr marL="635"/>
            <a:r>
              <a:rPr lang="zh-CN" sz="2175">
                <a:latin typeface="Noto Sans SC" panose="020B0500000000000000" charset="-122"/>
                <a:ea typeface="Noto Sans SC" panose="020B0500000000000000" charset="-122"/>
              </a:rPr>
              <a:t>学习路径推荐依据</a:t>
            </a:r>
            <a:endParaRPr lang="zh-CN" sz="2175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45" name="TextBox 20"/>
          <p:cNvSpPr txBox="1"/>
          <p:nvPr/>
        </p:nvSpPr>
        <p:spPr>
          <a:xfrm>
            <a:off x="1369409" y="4767643"/>
            <a:ext cx="2400300" cy="99583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15110A"/>
                </a:solidFill>
                <a:latin typeface="Noto Sans SC" panose="020B0500000000000000" charset="-122"/>
                <a:ea typeface="Noto Sans SC" panose="020B0500000000000000" charset="-122"/>
              </a:rPr>
              <a:t>提高响应速度</a:t>
            </a:r>
            <a:endParaRPr sz="2250" b="0" i="0">
              <a:solidFill>
                <a:srgbClr val="15110A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56515"/>
            <a:r>
              <a:rPr lang="zh-CN" sz="2250">
                <a:latin typeface="Noto Sans SC" panose="020B0500000000000000" charset="-122"/>
                <a:ea typeface="Noto Sans SC" panose="020B0500000000000000" charset="-122"/>
              </a:rPr>
              <a:t>减轻模型调用压力</a:t>
            </a:r>
            <a:endParaRPr lang="zh-CN" sz="2250">
              <a:latin typeface="Noto Sans SC" panose="020B0500000000000000" charset="-122"/>
              <a:ea typeface="Noto Sans SC" panose="020B0500000000000000" charset="-122"/>
            </a:endParaRPr>
          </a:p>
          <a:p>
            <a:pPr marL="59055"/>
            <a:r>
              <a:rPr lang="zh-CN" sz="2250">
                <a:latin typeface="Noto Sans SC" panose="020B0500000000000000" charset="-122"/>
                <a:ea typeface="Noto Sans SC" panose="020B0500000000000000" charset="-122"/>
              </a:rPr>
              <a:t>热点内容预加载</a:t>
            </a:r>
            <a:endParaRPr lang="zh-CN" sz="225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46" name="TextBox 21"/>
          <p:cNvSpPr txBox="1"/>
          <p:nvPr/>
        </p:nvSpPr>
        <p:spPr>
          <a:xfrm>
            <a:off x="1133475" y="6174486"/>
            <a:ext cx="9778555" cy="41786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290E00"/>
                </a:solidFill>
                <a:latin typeface="Noto Sans SC" panose="020B0500000000000000" charset="-122"/>
                <a:ea typeface="Noto Sans SC" panose="020B0500000000000000" charset="-122"/>
              </a:rPr>
              <a:t>技术栈:PostgreSQL/MySQL+向量数据库(Milvus/FAISS) +Redis</a:t>
            </a:r>
            <a:endParaRPr sz="2700" b="0" i="0">
              <a:solidFill>
                <a:srgbClr val="290E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2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9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68" y="1632952"/>
            <a:ext cx="5089779" cy="1877690"/>
          </a:xfrm>
          <a:prstGeom prst="rect">
            <a:avLst/>
          </a:prstGeom>
        </p:spPr>
      </p:pic>
      <p:pic>
        <p:nvPicPr>
          <p:cNvPr id="250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93" y="3788187"/>
            <a:ext cx="5095098" cy="1876139"/>
          </a:xfrm>
          <a:prstGeom prst="rect">
            <a:avLst/>
          </a:prstGeom>
        </p:spPr>
      </p:pic>
      <p:pic>
        <p:nvPicPr>
          <p:cNvPr id="251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310" y="3786980"/>
            <a:ext cx="4999196" cy="1880649"/>
          </a:xfrm>
          <a:prstGeom prst="rect">
            <a:avLst/>
          </a:prstGeom>
        </p:spPr>
      </p:pic>
      <p:pic>
        <p:nvPicPr>
          <p:cNvPr id="252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701" y="1630299"/>
            <a:ext cx="4988797" cy="1883283"/>
          </a:xfrm>
          <a:prstGeom prst="rect">
            <a:avLst/>
          </a:prstGeom>
        </p:spPr>
      </p:pic>
      <p:pic>
        <p:nvPicPr>
          <p:cNvPr id="253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1351" y="5633669"/>
            <a:ext cx="1270254" cy="842078"/>
          </a:xfrm>
          <a:prstGeom prst="rect">
            <a:avLst/>
          </a:prstGeom>
        </p:spPr>
      </p:pic>
      <p:pic>
        <p:nvPicPr>
          <p:cNvPr id="254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6174" y="1896141"/>
            <a:ext cx="313440" cy="303942"/>
          </a:xfrm>
          <a:prstGeom prst="rect">
            <a:avLst/>
          </a:prstGeom>
        </p:spPr>
      </p:pic>
      <p:pic>
        <p:nvPicPr>
          <p:cNvPr id="255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6028" y="1895856"/>
            <a:ext cx="308186" cy="298704"/>
          </a:xfrm>
          <a:prstGeom prst="rect">
            <a:avLst/>
          </a:prstGeom>
        </p:spPr>
      </p:pic>
      <p:pic>
        <p:nvPicPr>
          <p:cNvPr id="256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3274" y="4052982"/>
            <a:ext cx="307596" cy="298132"/>
          </a:xfrm>
          <a:prstGeom prst="rect">
            <a:avLst/>
          </a:prstGeom>
        </p:spPr>
      </p:pic>
      <p:pic>
        <p:nvPicPr>
          <p:cNvPr id="257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4755" y="4054602"/>
            <a:ext cx="297327" cy="292608"/>
          </a:xfrm>
          <a:prstGeom prst="rect">
            <a:avLst/>
          </a:prstGeom>
        </p:spPr>
      </p:pic>
      <p:sp>
        <p:nvSpPr>
          <p:cNvPr id="258" name="TextBox 11"/>
          <p:cNvSpPr txBox="1"/>
          <p:nvPr/>
        </p:nvSpPr>
        <p:spPr>
          <a:xfrm>
            <a:off x="956881" y="724090"/>
            <a:ext cx="5706237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75" b="1" i="0">
                <a:solidFill>
                  <a:srgbClr val="250600"/>
                </a:solidFill>
                <a:latin typeface="Noto Sans SC" panose="020B0500000000000000" charset="-122"/>
                <a:ea typeface="Noto Sans SC" panose="020B0500000000000000" charset="-122"/>
              </a:rPr>
              <a:t>市场机遇:政策东风与需求爆发</a:t>
            </a:r>
            <a:endParaRPr sz="3375" b="1" i="0">
              <a:solidFill>
                <a:srgbClr val="2506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59" name="TextBox 12"/>
          <p:cNvSpPr txBox="1"/>
          <p:nvPr/>
        </p:nvSpPr>
        <p:spPr>
          <a:xfrm>
            <a:off x="1634680" y="1891284"/>
            <a:ext cx="1038987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230700"/>
                </a:solidFill>
                <a:latin typeface="Noto Sans SC" panose="020B0500000000000000" charset="-122"/>
                <a:ea typeface="Noto Sans SC" panose="020B0500000000000000" charset="-122"/>
              </a:rPr>
              <a:t>政策支持</a:t>
            </a:r>
            <a:endParaRPr sz="2025" b="1" i="0">
              <a:solidFill>
                <a:srgbClr val="2307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60" name="TextBox 13"/>
          <p:cNvSpPr txBox="1"/>
          <p:nvPr/>
        </p:nvSpPr>
        <p:spPr>
          <a:xfrm>
            <a:off x="7085838" y="1891284"/>
            <a:ext cx="1038987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230700"/>
                </a:solidFill>
                <a:latin typeface="Noto Sans SC" panose="020B0500000000000000" charset="-122"/>
                <a:ea typeface="Noto Sans SC" panose="020B0500000000000000" charset="-122"/>
              </a:rPr>
              <a:t>市场需求</a:t>
            </a:r>
            <a:endParaRPr sz="2025" b="1" i="0">
              <a:solidFill>
                <a:srgbClr val="2307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61" name="TextBox 14"/>
          <p:cNvSpPr txBox="1"/>
          <p:nvPr/>
        </p:nvSpPr>
        <p:spPr>
          <a:xfrm>
            <a:off x="1663255" y="2288571"/>
            <a:ext cx="4411551" cy="87096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1A0300"/>
                </a:solidFill>
                <a:latin typeface="Noto Sans SC" panose="020B0500000000000000" charset="-122"/>
                <a:ea typeface="Noto Sans SC" panose="020B0500000000000000" charset="-122"/>
              </a:rPr>
              <a:t>国家推进教育数字化战略、Al+教育政策频出;</a:t>
            </a:r>
            <a:endParaRPr sz="1575" b="0" i="0">
              <a:solidFill>
                <a:srgbClr val="1A03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635"/>
            <a:r>
              <a:rPr lang="zh-CN" sz="1575">
                <a:latin typeface="Noto Sans SC" panose="020B0500000000000000" charset="-122"/>
                <a:ea typeface="Noto Sans SC" panose="020B0500000000000000" charset="-122"/>
              </a:rPr>
              <a:t>教育部发布《教育信息化2.0行动计划》;</a:t>
            </a:r>
            <a:endParaRPr lang="zh-CN" sz="1575">
              <a:latin typeface="Noto Sans SC" panose="020B0500000000000000" charset="-122"/>
              <a:ea typeface="Noto Sans SC" panose="020B0500000000000000" charset="-122"/>
            </a:endParaRPr>
          </a:p>
          <a:p>
            <a:pPr marL="1270">
              <a:spcBef>
                <a:spcPts val="140"/>
              </a:spcBef>
            </a:pPr>
            <a:r>
              <a:rPr lang="zh-CN" sz="1575">
                <a:latin typeface="Noto Sans SC" panose="020B0500000000000000" charset="-122"/>
                <a:ea typeface="Noto Sans SC" panose="020B0500000000000000" charset="-122"/>
              </a:rPr>
              <a:t>人工智能上升为国家战略</a:t>
            </a:r>
            <a:endParaRPr lang="zh-CN" sz="1575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62" name="TextBox 15"/>
          <p:cNvSpPr txBox="1"/>
          <p:nvPr/>
        </p:nvSpPr>
        <p:spPr>
          <a:xfrm>
            <a:off x="7084980" y="2289333"/>
            <a:ext cx="3999928" cy="86953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80300"/>
                </a:solidFill>
                <a:latin typeface="Noto Sans SC" panose="020B0500000000000000" charset="-122"/>
                <a:ea typeface="Noto Sans SC" panose="020B0500000000000000" charset="-122"/>
              </a:rPr>
              <a:t>个性化学习需求爆发、在线教育渗透率提升;</a:t>
            </a:r>
            <a:endParaRPr sz="1500" b="0" i="0">
              <a:solidFill>
                <a:srgbClr val="1803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70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K12在线教育用户规模突破3亿;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  <a:p>
            <a:pPr marL="2540">
              <a:spcBef>
                <a:spcPts val="485"/>
              </a:spcBef>
            </a:pPr>
            <a:r>
              <a:rPr lang="zh-CN" sz="1500">
                <a:latin typeface="Noto Sans SC" panose="020B0500000000000000" charset="-122"/>
                <a:ea typeface="Noto Sans SC" panose="020B0500000000000000" charset="-122"/>
              </a:rPr>
              <a:t>职业教育市场规模突破万亿</a:t>
            </a:r>
            <a:endParaRPr lang="zh-CN" sz="150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63" name="TextBox 16"/>
          <p:cNvSpPr txBox="1"/>
          <p:nvPr/>
        </p:nvSpPr>
        <p:spPr>
          <a:xfrm>
            <a:off x="1634680" y="4034409"/>
            <a:ext cx="1038987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220700"/>
                </a:solidFill>
                <a:latin typeface="Noto Sans SC" panose="020B0500000000000000" charset="-122"/>
                <a:ea typeface="Noto Sans SC" panose="020B0500000000000000" charset="-122"/>
              </a:rPr>
              <a:t>技术成熟</a:t>
            </a:r>
            <a:endParaRPr sz="2025" b="1" i="0">
              <a:solidFill>
                <a:srgbClr val="2207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64" name="TextBox 17"/>
          <p:cNvSpPr txBox="1"/>
          <p:nvPr/>
        </p:nvSpPr>
        <p:spPr>
          <a:xfrm>
            <a:off x="7085838" y="4034409"/>
            <a:ext cx="1009650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190300"/>
                </a:solidFill>
                <a:latin typeface="Noto Sans SC" panose="020B0500000000000000" charset="-122"/>
                <a:ea typeface="Noto Sans SC" panose="020B0500000000000000" charset="-122"/>
              </a:rPr>
              <a:t>时机窗口</a:t>
            </a:r>
            <a:endParaRPr sz="1950" b="1" i="0">
              <a:solidFill>
                <a:srgbClr val="1903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65" name="TextBox 18"/>
          <p:cNvSpPr txBox="1"/>
          <p:nvPr/>
        </p:nvSpPr>
        <p:spPr>
          <a:xfrm>
            <a:off x="7085838" y="4463034"/>
            <a:ext cx="2519314" cy="87029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190300"/>
                </a:solidFill>
                <a:latin typeface="Noto Sans SC" panose="020B0500000000000000" charset="-122"/>
                <a:ea typeface="Noto Sans SC" panose="020B0500000000000000" charset="-122"/>
              </a:rPr>
              <a:t>教育科技创业黄金期;</a:t>
            </a:r>
            <a:endParaRPr sz="1575" b="0" i="0">
              <a:solidFill>
                <a:srgbClr val="1903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635">
              <a:spcBef>
                <a:spcPts val="140"/>
              </a:spcBef>
            </a:pPr>
            <a:r>
              <a:rPr lang="zh-CN" sz="1575">
                <a:latin typeface="Noto Sans SC" panose="020B0500000000000000" charset="-122"/>
                <a:ea typeface="Noto Sans SC" panose="020B0500000000000000" charset="-122"/>
              </a:rPr>
              <a:t>资本加速布局教育AI赛道;</a:t>
            </a:r>
            <a:endParaRPr lang="zh-CN" sz="1575">
              <a:latin typeface="Noto Sans SC" panose="020B0500000000000000" charset="-122"/>
              <a:ea typeface="Noto Sans SC" panose="020B0500000000000000" charset="-122"/>
            </a:endParaRPr>
          </a:p>
          <a:p>
            <a:pPr marL="635">
              <a:spcBef>
                <a:spcPts val="385"/>
              </a:spcBef>
            </a:pPr>
            <a:r>
              <a:rPr lang="zh-CN" sz="1575">
                <a:latin typeface="Noto Sans SC" panose="020B0500000000000000" charset="-122"/>
                <a:ea typeface="Noto Sans SC" panose="020B0500000000000000" charset="-122"/>
              </a:rPr>
              <a:t>用户付费意愿持续提升</a:t>
            </a:r>
            <a:endParaRPr lang="zh-CN" sz="1575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66" name="TextBox 19"/>
          <p:cNvSpPr txBox="1"/>
          <p:nvPr/>
        </p:nvSpPr>
        <p:spPr>
          <a:xfrm>
            <a:off x="1664684" y="4463796"/>
            <a:ext cx="3013876" cy="86953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180300"/>
                </a:solidFill>
                <a:latin typeface="Noto Sans SC" panose="020B0500000000000000" charset="-122"/>
                <a:ea typeface="Noto Sans SC" panose="020B0500000000000000" charset="-122"/>
              </a:rPr>
              <a:t>大模型能力突破、成本大幅下降;</a:t>
            </a:r>
            <a:endParaRPr sz="1575" b="0" i="0">
              <a:solidFill>
                <a:srgbClr val="1803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385"/>
              </a:spcBef>
            </a:pPr>
            <a:r>
              <a:rPr lang="zh-CN" sz="1575">
                <a:latin typeface="Noto Sans SC" panose="020B0500000000000000" charset="-122"/>
                <a:ea typeface="Noto Sans SC" panose="020B0500000000000000" charset="-122"/>
              </a:rPr>
              <a:t>GPT-4等大模型赋能教育场景;</a:t>
            </a:r>
            <a:endParaRPr lang="zh-CN" sz="1575"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385"/>
              </a:spcBef>
            </a:pPr>
            <a:r>
              <a:rPr lang="zh-CN" sz="1575">
                <a:latin typeface="Noto Sans SC" panose="020B0500000000000000" charset="-122"/>
                <a:ea typeface="Noto Sans SC" panose="020B0500000000000000" charset="-122"/>
              </a:rPr>
              <a:t>AI算力成本5年下降90%</a:t>
            </a:r>
            <a:endParaRPr lang="zh-CN" sz="1575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67" name="TextBox 20"/>
          <p:cNvSpPr txBox="1"/>
          <p:nvPr/>
        </p:nvSpPr>
        <p:spPr>
          <a:xfrm>
            <a:off x="4183665" y="6391084"/>
            <a:ext cx="3854005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FDFEFD"/>
                </a:solidFill>
                <a:latin typeface="Noto Sans SC" panose="020B0500000000000000" charset="-122"/>
                <a:ea typeface="Noto Sans SC" panose="020B0500000000000000" charset="-122"/>
              </a:rPr>
              <a:t>万亿级教育市场,AI赋能正当时</a:t>
            </a:r>
            <a:endParaRPr sz="2175" b="1" i="0">
              <a:solidFill>
                <a:srgbClr val="FDFEFD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7543" y="979694"/>
            <a:ext cx="12192000" cy="6858000"/>
          </a:xfrm>
          <a:prstGeom prst="rect">
            <a:avLst/>
          </a:prstGeom>
        </p:spPr>
      </p:pic>
      <p:pic>
        <p:nvPicPr>
          <p:cNvPr id="12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702" y="1853793"/>
            <a:ext cx="1427511" cy="1075391"/>
          </a:xfrm>
          <a:prstGeom prst="rect">
            <a:avLst/>
          </a:prstGeom>
        </p:spPr>
      </p:pic>
      <p:pic>
        <p:nvPicPr>
          <p:cNvPr id="13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869" y="1699765"/>
            <a:ext cx="2270188" cy="514004"/>
          </a:xfrm>
          <a:prstGeom prst="rect">
            <a:avLst/>
          </a:prstGeom>
        </p:spPr>
      </p:pic>
      <p:pic>
        <p:nvPicPr>
          <p:cNvPr id="14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03" y="1703429"/>
            <a:ext cx="2161127" cy="504580"/>
          </a:xfrm>
          <a:prstGeom prst="rect">
            <a:avLst/>
          </a:prstGeom>
        </p:spPr>
      </p:pic>
      <p:pic>
        <p:nvPicPr>
          <p:cNvPr id="15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745" y="5267741"/>
            <a:ext cx="797909" cy="892898"/>
          </a:xfrm>
          <a:prstGeom prst="rect">
            <a:avLst/>
          </a:prstGeom>
        </p:spPr>
      </p:pic>
      <p:sp>
        <p:nvSpPr>
          <p:cNvPr id="16" name="TextBox 6"/>
          <p:cNvSpPr txBox="1"/>
          <p:nvPr/>
        </p:nvSpPr>
        <p:spPr>
          <a:xfrm>
            <a:off x="631602" y="690372"/>
            <a:ext cx="4422552" cy="57864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350" b="1" i="0">
                <a:solidFill>
                  <a:srgbClr val="2A0701"/>
                </a:solidFill>
                <a:latin typeface="Noto Sans SC" panose="020B0500000000000000" charset="-122"/>
                <a:ea typeface="Noto Sans SC" panose="020B0500000000000000" charset="-122"/>
              </a:rPr>
              <a:t>创新点与未来扩展</a:t>
            </a:r>
            <a:endParaRPr sz="4350" b="1" i="0">
              <a:solidFill>
                <a:srgbClr val="2A070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7" name="TextBox 7"/>
          <p:cNvSpPr txBox="1"/>
          <p:nvPr/>
        </p:nvSpPr>
        <p:spPr>
          <a:xfrm>
            <a:off x="1018413" y="1768030"/>
            <a:ext cx="1333500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核心创新点</a:t>
            </a:r>
            <a:endParaRPr sz="2100" b="1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8" name="TextBox 8"/>
          <p:cNvSpPr txBox="1"/>
          <p:nvPr/>
        </p:nvSpPr>
        <p:spPr>
          <a:xfrm>
            <a:off x="6909244" y="1768030"/>
            <a:ext cx="1568005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DFEFE"/>
                </a:solidFill>
                <a:latin typeface="Noto Sans SC" panose="020B0500000000000000" charset="-122"/>
                <a:ea typeface="Noto Sans SC" panose="020B0500000000000000" charset="-122"/>
              </a:rPr>
              <a:t>未来扩展方向</a:t>
            </a:r>
            <a:endParaRPr sz="1950" b="1" i="0">
              <a:solidFill>
                <a:srgbClr val="FDFEFE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19" name="TextBox 9"/>
          <p:cNvSpPr txBox="1"/>
          <p:nvPr/>
        </p:nvSpPr>
        <p:spPr>
          <a:xfrm>
            <a:off x="784669" y="2442400"/>
            <a:ext cx="5106638" cy="56407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A0000"/>
                </a:solidFill>
                <a:latin typeface="Noto Sans SC" panose="020B0500000000000000" charset="-122"/>
                <a:ea typeface="Noto Sans SC" panose="020B0500000000000000" charset="-122"/>
              </a:rPr>
              <a:t>多Agent协同架构:打破传统单Agent局限,实现复杂</a:t>
            </a:r>
            <a:endParaRPr sz="1650" b="0" i="0">
              <a:solidFill>
                <a:srgbClr val="0A00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635">
              <a:spcBef>
                <a:spcPts val="140"/>
              </a:spcBef>
            </a:pPr>
            <a:r>
              <a:rPr lang="zh-CN" sz="1650">
                <a:latin typeface="Noto Sans SC" panose="020B0500000000000000" charset="-122"/>
                <a:ea typeface="Noto Sans SC" panose="020B0500000000000000" charset="-122"/>
              </a:rPr>
              <a:t>任务分工协作</a:t>
            </a:r>
            <a:endParaRPr lang="zh-CN" sz="165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0" name="TextBox 10"/>
          <p:cNvSpPr txBox="1"/>
          <p:nvPr/>
        </p:nvSpPr>
        <p:spPr>
          <a:xfrm>
            <a:off x="6705600" y="2443162"/>
            <a:ext cx="300113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90000"/>
                </a:solidFill>
                <a:latin typeface="Noto Sans SC" panose="020B0500000000000000" charset="-122"/>
                <a:ea typeface="Noto Sans SC" panose="020B0500000000000000" charset="-122"/>
              </a:rPr>
              <a:t>多模态教学:视频讲解自动生成</a:t>
            </a:r>
            <a:endParaRPr sz="1725" b="0" i="0">
              <a:solidFill>
                <a:srgbClr val="09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1" name="TextBox 11"/>
          <p:cNvSpPr txBox="1"/>
          <p:nvPr/>
        </p:nvSpPr>
        <p:spPr>
          <a:xfrm>
            <a:off x="726852" y="3667791"/>
            <a:ext cx="4994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80000"/>
                </a:solidFill>
                <a:latin typeface="Noto Sans SC" panose="020B0500000000000000" charset="-122"/>
                <a:ea typeface="Noto Sans SC" panose="020B0500000000000000" charset="-122"/>
              </a:rPr>
              <a:t>Al+学习路径规划结合:将AI能力与教育理论深度融合</a:t>
            </a:r>
            <a:endParaRPr sz="1725" b="0" i="0">
              <a:solidFill>
                <a:srgbClr val="08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2" name="TextBox 12"/>
          <p:cNvSpPr txBox="1"/>
          <p:nvPr/>
        </p:nvSpPr>
        <p:spPr>
          <a:xfrm>
            <a:off x="6705600" y="3667791"/>
            <a:ext cx="382171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AI老师个性化人格:打造有温度的AI助教</a:t>
            </a:r>
            <a:endParaRPr sz="1725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3" name="TextBox 13"/>
          <p:cNvSpPr txBox="1"/>
          <p:nvPr/>
        </p:nvSpPr>
        <p:spPr>
          <a:xfrm>
            <a:off x="756094" y="4280154"/>
            <a:ext cx="493537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80000"/>
                </a:solidFill>
                <a:latin typeface="Noto Sans SC" panose="020B0500000000000000" charset="-122"/>
                <a:ea typeface="Noto Sans SC" panose="020B0500000000000000" charset="-122"/>
              </a:rPr>
              <a:t>AI辅助教学闭环:从内容生成到学习评估的完整闭环</a:t>
            </a:r>
            <a:endParaRPr sz="1725" b="0" i="0">
              <a:solidFill>
                <a:srgbClr val="08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4" name="TextBox 14"/>
          <p:cNvSpPr txBox="1"/>
          <p:nvPr/>
        </p:nvSpPr>
        <p:spPr>
          <a:xfrm>
            <a:off x="6676263" y="4280154"/>
            <a:ext cx="341137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学习社交系统:学员互动与协作学习</a:t>
            </a:r>
            <a:endParaRPr sz="1725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5" name="TextBox 15"/>
          <p:cNvSpPr txBox="1"/>
          <p:nvPr/>
        </p:nvSpPr>
        <p:spPr>
          <a:xfrm>
            <a:off x="6705600" y="4892421"/>
            <a:ext cx="3528631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AI自动出题+批改:减轻教师工作负担</a:t>
            </a:r>
            <a:endParaRPr sz="1725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6" name="TextBox 16"/>
          <p:cNvSpPr txBox="1"/>
          <p:nvPr/>
        </p:nvSpPr>
        <p:spPr>
          <a:xfrm>
            <a:off x="726852" y="5504783"/>
            <a:ext cx="4466463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80000"/>
                </a:solidFill>
                <a:latin typeface="Noto Sans SC" panose="020B0500000000000000" charset="-122"/>
                <a:ea typeface="Noto Sans SC" panose="020B0500000000000000" charset="-122"/>
              </a:rPr>
              <a:t>模块化可扩展设计:插件式架构,易于功能扩展</a:t>
            </a:r>
            <a:endParaRPr sz="1650" b="0" i="0">
              <a:solidFill>
                <a:srgbClr val="08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27" name="TextBox 17"/>
          <p:cNvSpPr txBox="1"/>
          <p:nvPr/>
        </p:nvSpPr>
        <p:spPr>
          <a:xfrm>
            <a:off x="6588347" y="5504783"/>
            <a:ext cx="475954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?学习数据可视化Dashboard:让学习成果一目了然</a:t>
            </a:r>
            <a:endParaRPr sz="1575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" y="0"/>
            <a:ext cx="12192000" cy="6858000"/>
          </a:xfrm>
          <a:prstGeom prst="rect">
            <a:avLst/>
          </a:prstGeom>
        </p:spPr>
      </p:pic>
      <p:pic>
        <p:nvPicPr>
          <p:cNvPr id="30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991" y="4476369"/>
            <a:ext cx="9632135" cy="855345"/>
          </a:xfrm>
          <a:prstGeom prst="rect">
            <a:avLst/>
          </a:prstGeom>
        </p:spPr>
      </p:pic>
      <p:pic>
        <p:nvPicPr>
          <p:cNvPr id="31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834" y="2476595"/>
            <a:ext cx="1650652" cy="1950339"/>
          </a:xfrm>
          <a:prstGeom prst="rect">
            <a:avLst/>
          </a:prstGeom>
        </p:spPr>
      </p:pic>
      <p:pic>
        <p:nvPicPr>
          <p:cNvPr id="32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333" y="2471451"/>
            <a:ext cx="1640053" cy="1959483"/>
          </a:xfrm>
          <a:prstGeom prst="rect">
            <a:avLst/>
          </a:prstGeom>
        </p:spPr>
      </p:pic>
      <p:pic>
        <p:nvPicPr>
          <p:cNvPr id="33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348" y="2472720"/>
            <a:ext cx="1639252" cy="1952848"/>
          </a:xfrm>
          <a:prstGeom prst="rect">
            <a:avLst/>
          </a:prstGeom>
        </p:spPr>
      </p:pic>
      <p:pic>
        <p:nvPicPr>
          <p:cNvPr id="34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310" y="2475224"/>
            <a:ext cx="1629632" cy="1953652"/>
          </a:xfrm>
          <a:prstGeom prst="rect">
            <a:avLst/>
          </a:prstGeom>
        </p:spPr>
      </p:pic>
      <p:pic>
        <p:nvPicPr>
          <p:cNvPr id="35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7556" y="2473452"/>
            <a:ext cx="1621239" cy="1949291"/>
          </a:xfrm>
          <a:prstGeom prst="rect">
            <a:avLst/>
          </a:prstGeom>
        </p:spPr>
      </p:pic>
      <p:pic>
        <p:nvPicPr>
          <p:cNvPr id="36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658" y="2640615"/>
            <a:ext cx="1563466" cy="1534953"/>
          </a:xfrm>
          <a:prstGeom prst="rect">
            <a:avLst/>
          </a:prstGeom>
        </p:spPr>
      </p:pic>
      <p:pic>
        <p:nvPicPr>
          <p:cNvPr id="37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1686" y="1630785"/>
            <a:ext cx="669893" cy="717403"/>
          </a:xfrm>
          <a:prstGeom prst="rect">
            <a:avLst/>
          </a:prstGeom>
        </p:spPr>
      </p:pic>
      <p:pic>
        <p:nvPicPr>
          <p:cNvPr id="38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302" y="5573934"/>
            <a:ext cx="696763" cy="658844"/>
          </a:xfrm>
          <a:prstGeom prst="rect">
            <a:avLst/>
          </a:prstGeom>
        </p:spPr>
      </p:pic>
      <p:pic>
        <p:nvPicPr>
          <p:cNvPr id="39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54979" y="790765"/>
            <a:ext cx="436938" cy="721899"/>
          </a:xfrm>
          <a:prstGeom prst="rect">
            <a:avLst/>
          </a:prstGeom>
        </p:spPr>
      </p:pic>
      <p:pic>
        <p:nvPicPr>
          <p:cNvPr id="40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8478" y="3284791"/>
            <a:ext cx="440922" cy="232314"/>
          </a:xfrm>
          <a:prstGeom prst="rect">
            <a:avLst/>
          </a:prstGeom>
        </p:spPr>
      </p:pic>
      <p:pic>
        <p:nvPicPr>
          <p:cNvPr id="41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89465" y="3283553"/>
            <a:ext cx="368706" cy="241077"/>
          </a:xfrm>
          <a:prstGeom prst="rect">
            <a:avLst/>
          </a:prstGeom>
        </p:spPr>
      </p:pic>
      <p:pic>
        <p:nvPicPr>
          <p:cNvPr id="42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68115" y="3291813"/>
            <a:ext cx="383762" cy="227414"/>
          </a:xfrm>
          <a:prstGeom prst="rect">
            <a:avLst/>
          </a:prstGeom>
        </p:spPr>
      </p:pic>
      <p:pic>
        <p:nvPicPr>
          <p:cNvPr id="43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21883" y="3290360"/>
            <a:ext cx="369665" cy="232225"/>
          </a:xfrm>
          <a:prstGeom prst="rect">
            <a:avLst/>
          </a:prstGeom>
        </p:spPr>
      </p:pic>
      <p:pic>
        <p:nvPicPr>
          <p:cNvPr id="44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9172" y="3292624"/>
            <a:ext cx="362331" cy="228840"/>
          </a:xfrm>
          <a:prstGeom prst="rect">
            <a:avLst/>
          </a:prstGeom>
        </p:spPr>
      </p:pic>
      <p:pic>
        <p:nvPicPr>
          <p:cNvPr id="45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71728" y="2657280"/>
            <a:ext cx="210978" cy="268517"/>
          </a:xfrm>
          <a:prstGeom prst="rect">
            <a:avLst/>
          </a:prstGeom>
        </p:spPr>
      </p:pic>
      <p:pic>
        <p:nvPicPr>
          <p:cNvPr id="46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36687" y="4505755"/>
            <a:ext cx="204692" cy="214212"/>
          </a:xfrm>
          <a:prstGeom prst="rect">
            <a:avLst/>
          </a:prstGeom>
        </p:spPr>
      </p:pic>
      <p:sp>
        <p:nvSpPr>
          <p:cNvPr id="47" name="TextBox 19"/>
          <p:cNvSpPr txBox="1"/>
          <p:nvPr/>
        </p:nvSpPr>
        <p:spPr>
          <a:xfrm>
            <a:off x="430053" y="418719"/>
            <a:ext cx="3800475" cy="90773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885" b="1" i="0">
                <a:solidFill>
                  <a:srgbClr val="2B0300"/>
                </a:solidFill>
                <a:latin typeface="Noto Sans SC" panose="020B0500000000000000" charset="-122"/>
                <a:ea typeface="Noto Sans SC" panose="020B0500000000000000" charset="-122"/>
              </a:rPr>
              <a:t>核心业务流程:</a:t>
            </a:r>
            <a:endParaRPr sz="2885" b="1" i="0">
              <a:solidFill>
                <a:srgbClr val="2B03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565"/>
              </a:spcBef>
            </a:pPr>
            <a:r>
              <a:rPr lang="zh-CN" sz="2885" b="1">
                <a:latin typeface="Noto Sans SC" panose="020B0500000000000000" charset="-122"/>
                <a:ea typeface="Noto Sans SC" panose="020B0500000000000000" charset="-122"/>
              </a:rPr>
              <a:t>从内容生成到学习评估</a:t>
            </a:r>
            <a:endParaRPr lang="zh-CN" sz="2885" b="1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48" name="TextBox 20"/>
          <p:cNvSpPr txBox="1"/>
          <p:nvPr/>
        </p:nvSpPr>
        <p:spPr>
          <a:xfrm>
            <a:off x="433768" y="1494091"/>
            <a:ext cx="3147631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10105"/>
                </a:solidFill>
                <a:latin typeface="Noto Sans SC" panose="020B0500000000000000" charset="-122"/>
                <a:ea typeface="Noto Sans SC" panose="020B0500000000000000" charset="-122"/>
              </a:rPr>
              <a:t>覆盖学习全生命周期的智能闭环</a:t>
            </a:r>
            <a:endParaRPr sz="1725" b="0" i="0">
              <a:solidFill>
                <a:srgbClr val="010105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49" name="TextBox 21"/>
          <p:cNvSpPr txBox="1"/>
          <p:nvPr/>
        </p:nvSpPr>
        <p:spPr>
          <a:xfrm>
            <a:off x="8905113" y="2628423"/>
            <a:ext cx="184594" cy="28470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03436"/>
                </a:solidFill>
                <a:latin typeface="Noto Sans SC" panose="020B0500000000000000" charset="-122"/>
                <a:ea typeface="Noto Sans SC" panose="020B0500000000000000" charset="-122"/>
              </a:rPr>
              <a:t>5</a:t>
            </a:r>
            <a:endParaRPr sz="1350" b="0" i="0">
              <a:solidFill>
                <a:srgbClr val="C03436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50" name="TextBox 22"/>
          <p:cNvSpPr txBox="1"/>
          <p:nvPr/>
        </p:nvSpPr>
        <p:spPr>
          <a:xfrm>
            <a:off x="5006530" y="2658237"/>
            <a:ext cx="215455" cy="25565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A345"/>
                </a:solidFill>
                <a:latin typeface="Noto Sans SC" panose="020B0500000000000000" charset="-122"/>
                <a:ea typeface="Noto Sans SC" panose="020B0500000000000000" charset="-122"/>
              </a:rPr>
              <a:t>3</a:t>
            </a:r>
            <a:endParaRPr sz="1500" b="0" i="0">
              <a:solidFill>
                <a:srgbClr val="26A345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51" name="TextBox 23"/>
          <p:cNvSpPr txBox="1"/>
          <p:nvPr/>
        </p:nvSpPr>
        <p:spPr>
          <a:xfrm>
            <a:off x="3072955" y="2658999"/>
            <a:ext cx="184594" cy="25412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231A1"/>
                </a:solidFill>
                <a:latin typeface="Noto Sans SC" panose="020B0500000000000000" charset="-122"/>
                <a:ea typeface="Noto Sans SC" panose="020B0500000000000000" charset="-122"/>
              </a:rPr>
              <a:t>2</a:t>
            </a:r>
            <a:endParaRPr sz="1350" b="0" i="0">
              <a:solidFill>
                <a:srgbClr val="6231A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52" name="TextBox 24"/>
          <p:cNvSpPr txBox="1"/>
          <p:nvPr/>
        </p:nvSpPr>
        <p:spPr>
          <a:xfrm>
            <a:off x="10840212" y="2659761"/>
            <a:ext cx="153828" cy="25260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D202A"/>
                </a:solidFill>
                <a:latin typeface="Noto Sans SC" panose="020B0500000000000000" charset="-122"/>
                <a:ea typeface="Noto Sans SC" panose="020B0500000000000000" charset="-122"/>
              </a:rPr>
              <a:t>6</a:t>
            </a:r>
            <a:endParaRPr sz="1200" b="0" i="0">
              <a:solidFill>
                <a:srgbClr val="1D202A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53" name="TextBox 25"/>
          <p:cNvSpPr txBox="1"/>
          <p:nvPr/>
        </p:nvSpPr>
        <p:spPr>
          <a:xfrm>
            <a:off x="1109281" y="2812065"/>
            <a:ext cx="184594" cy="25412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16CC5"/>
                </a:solidFill>
                <a:latin typeface="Noto Sans SC" panose="020B0500000000000000" charset="-122"/>
                <a:ea typeface="Noto Sans SC" panose="020B0500000000000000" charset="-122"/>
              </a:rPr>
              <a:t>1</a:t>
            </a:r>
            <a:endParaRPr sz="1350" b="0" i="0">
              <a:solidFill>
                <a:srgbClr val="116CC5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54" name="TextBox 26"/>
          <p:cNvSpPr txBox="1"/>
          <p:nvPr/>
        </p:nvSpPr>
        <p:spPr>
          <a:xfrm>
            <a:off x="10278903" y="3022568"/>
            <a:ext cx="1322665" cy="59626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评估Agent持</a:t>
            </a:r>
            <a:endParaRPr sz="1760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60960"/>
            <a:r>
              <a:rPr lang="zh-CN" sz="1760">
                <a:latin typeface="Noto Sans SC" panose="020B0500000000000000" charset="-122"/>
                <a:ea typeface="Noto Sans SC" panose="020B0500000000000000" charset="-122"/>
              </a:rPr>
              <a:t>续评估效果</a:t>
            </a:r>
            <a:endParaRPr lang="zh-CN" sz="176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55" name="TextBox 27"/>
          <p:cNvSpPr txBox="1"/>
          <p:nvPr/>
        </p:nvSpPr>
        <p:spPr>
          <a:xfrm>
            <a:off x="2513171" y="3053905"/>
            <a:ext cx="1304162" cy="56568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85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画像Agent构</a:t>
            </a:r>
            <a:endParaRPr sz="1685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88265"/>
            <a:r>
              <a:rPr lang="zh-CN" sz="1685">
                <a:latin typeface="Noto Sans SC" panose="020B0500000000000000" charset="-122"/>
                <a:ea typeface="Noto Sans SC" panose="020B0500000000000000" charset="-122"/>
              </a:rPr>
              <a:t>建能力模型</a:t>
            </a:r>
            <a:endParaRPr lang="zh-CN" sz="1685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56" name="TextBox 28"/>
          <p:cNvSpPr txBox="1"/>
          <p:nvPr/>
        </p:nvSpPr>
        <p:spPr>
          <a:xfrm>
            <a:off x="4477512" y="3054762"/>
            <a:ext cx="1302734" cy="56407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85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路径Agent生</a:t>
            </a:r>
            <a:endParaRPr sz="1685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88265">
              <a:spcBef>
                <a:spcPts val="140"/>
              </a:spcBef>
            </a:pPr>
            <a:r>
              <a:rPr lang="zh-CN" sz="1685">
                <a:latin typeface="Noto Sans SC" panose="020B0500000000000000" charset="-122"/>
                <a:ea typeface="Noto Sans SC" panose="020B0500000000000000" charset="-122"/>
              </a:rPr>
              <a:t>成学习路径</a:t>
            </a:r>
            <a:endParaRPr lang="zh-CN" sz="1685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57" name="TextBox 29"/>
          <p:cNvSpPr txBox="1"/>
          <p:nvPr/>
        </p:nvSpPr>
        <p:spPr>
          <a:xfrm>
            <a:off x="6411753" y="3054762"/>
            <a:ext cx="1302734" cy="56407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85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内容Agent生</a:t>
            </a:r>
            <a:endParaRPr sz="1685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88900">
              <a:spcBef>
                <a:spcPts val="140"/>
              </a:spcBef>
            </a:pPr>
            <a:r>
              <a:rPr lang="zh-CN" sz="1685">
                <a:latin typeface="Noto Sans SC" panose="020B0500000000000000" charset="-122"/>
                <a:ea typeface="Noto Sans SC" panose="020B0500000000000000" charset="-122"/>
              </a:rPr>
              <a:t>成学习资源</a:t>
            </a:r>
            <a:endParaRPr lang="zh-CN" sz="1685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58" name="TextBox 30"/>
          <p:cNvSpPr txBox="1"/>
          <p:nvPr/>
        </p:nvSpPr>
        <p:spPr>
          <a:xfrm>
            <a:off x="8346090" y="3054762"/>
            <a:ext cx="1302734" cy="56407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85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辅导Agent提</a:t>
            </a:r>
            <a:endParaRPr sz="1685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 marL="88900">
              <a:spcBef>
                <a:spcPts val="140"/>
              </a:spcBef>
            </a:pPr>
            <a:r>
              <a:rPr lang="zh-CN" sz="1685">
                <a:latin typeface="Noto Sans SC" panose="020B0500000000000000" charset="-122"/>
                <a:ea typeface="Noto Sans SC" panose="020B0500000000000000" charset="-122"/>
              </a:rPr>
              <a:t>供实时支持</a:t>
            </a:r>
            <a:endParaRPr lang="zh-CN" sz="1685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59" name="TextBox 31"/>
          <p:cNvSpPr txBox="1"/>
          <p:nvPr/>
        </p:nvSpPr>
        <p:spPr>
          <a:xfrm>
            <a:off x="872680" y="3147345"/>
            <a:ext cx="720090" cy="56407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用户进</a:t>
            </a:r>
            <a:endParaRPr sz="1800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  <a:p>
            <a:pPr>
              <a:spcBef>
                <a:spcPts val="140"/>
              </a:spcBef>
            </a:pPr>
            <a:r>
              <a:rPr lang="zh-CN" sz="1800">
                <a:latin typeface="Noto Sans SC" panose="020B0500000000000000" charset="-122"/>
                <a:ea typeface="Noto Sans SC" panose="020B0500000000000000" charset="-122"/>
              </a:rPr>
              <a:t>入系统</a:t>
            </a:r>
            <a:endParaRPr lang="zh-CN" sz="1800"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60" name="TextBox 32"/>
          <p:cNvSpPr txBox="1"/>
          <p:nvPr/>
        </p:nvSpPr>
        <p:spPr>
          <a:xfrm>
            <a:off x="2427446" y="3944112"/>
            <a:ext cx="1475612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10007"/>
                </a:solidFill>
                <a:latin typeface="Noto Sans SC" panose="020B0500000000000000" charset="-122"/>
                <a:ea typeface="Noto Sans SC" panose="020B0500000000000000" charset="-122"/>
              </a:rPr>
              <a:t>评估用户知识水平</a:t>
            </a:r>
            <a:endParaRPr sz="1350" b="0" i="0">
              <a:solidFill>
                <a:srgbClr val="010007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61" name="TextBox 33"/>
          <p:cNvSpPr txBox="1"/>
          <p:nvPr/>
        </p:nvSpPr>
        <p:spPr>
          <a:xfrm>
            <a:off x="4478940" y="3944112"/>
            <a:ext cx="1299781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100"/>
                </a:solidFill>
                <a:latin typeface="Noto Sans SC" panose="020B0500000000000000" charset="-122"/>
                <a:ea typeface="Noto Sans SC" panose="020B0500000000000000" charset="-122"/>
              </a:rPr>
              <a:t>规划个性化路线</a:t>
            </a:r>
            <a:endParaRPr sz="1425" b="0" i="0">
              <a:solidFill>
                <a:srgbClr val="0001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62" name="TextBox 34"/>
          <p:cNvSpPr txBox="1"/>
          <p:nvPr/>
        </p:nvSpPr>
        <p:spPr>
          <a:xfrm>
            <a:off x="6501193" y="3944112"/>
            <a:ext cx="1123950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智能生成内容</a:t>
            </a:r>
            <a:endParaRPr sz="1425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63" name="TextBox 35"/>
          <p:cNvSpPr txBox="1"/>
          <p:nvPr/>
        </p:nvSpPr>
        <p:spPr>
          <a:xfrm>
            <a:off x="8494109" y="3944112"/>
            <a:ext cx="97745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40000"/>
                </a:solidFill>
                <a:latin typeface="Noto Sans SC" panose="020B0500000000000000" charset="-122"/>
                <a:ea typeface="Noto Sans SC" panose="020B0500000000000000" charset="-122"/>
              </a:rPr>
              <a:t>24小时答疑</a:t>
            </a:r>
            <a:endParaRPr sz="1425" b="0" i="0">
              <a:solidFill>
                <a:srgbClr val="04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64" name="TextBox 36"/>
          <p:cNvSpPr txBox="1"/>
          <p:nvPr/>
        </p:nvSpPr>
        <p:spPr>
          <a:xfrm>
            <a:off x="10369772" y="3944112"/>
            <a:ext cx="1123950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</a:rPr>
              <a:t>分析掌握情况</a:t>
            </a:r>
            <a:endParaRPr sz="1425" b="0" i="0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65" name="TextBox 37"/>
          <p:cNvSpPr txBox="1"/>
          <p:nvPr/>
        </p:nvSpPr>
        <p:spPr>
          <a:xfrm>
            <a:off x="610362" y="4464558"/>
            <a:ext cx="1182528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002"/>
                </a:solidFill>
                <a:latin typeface="Noto Sans SC" panose="020B0500000000000000" charset="-122"/>
                <a:ea typeface="Noto Sans SC" panose="020B0500000000000000" charset="-122"/>
              </a:rPr>
              <a:t>用户登录/注册</a:t>
            </a:r>
            <a:endParaRPr sz="1425" b="0" i="0">
              <a:solidFill>
                <a:srgbClr val="000002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  <p:sp>
        <p:nvSpPr>
          <p:cNvPr id="66" name="TextBox 38"/>
          <p:cNvSpPr txBox="1"/>
          <p:nvPr/>
        </p:nvSpPr>
        <p:spPr>
          <a:xfrm>
            <a:off x="4330922" y="5657088"/>
            <a:ext cx="3530155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2030C"/>
                </a:solidFill>
                <a:latin typeface="Noto Sans SC" panose="020B0500000000000000" charset="-122"/>
                <a:ea typeface="Noto Sans SC" panose="020B0500000000000000" charset="-122"/>
              </a:rPr>
              <a:t>AI赋能,让学习更高效、更个性化</a:t>
            </a:r>
            <a:endParaRPr sz="1875" b="0" i="0">
              <a:solidFill>
                <a:srgbClr val="02030C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9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" y="588073"/>
            <a:ext cx="4221410" cy="2300859"/>
          </a:xfrm>
          <a:prstGeom prst="rect">
            <a:avLst/>
          </a:prstGeom>
        </p:spPr>
      </p:pic>
      <p:pic>
        <p:nvPicPr>
          <p:cNvPr id="70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065" y="5645658"/>
            <a:ext cx="2952409" cy="1212342"/>
          </a:xfrm>
          <a:prstGeom prst="rect">
            <a:avLst/>
          </a:prstGeom>
        </p:spPr>
      </p:pic>
      <p:sp>
        <p:nvSpPr>
          <p:cNvPr id="71" name="TextBox 4"/>
          <p:cNvSpPr txBox="1"/>
          <p:nvPr/>
        </p:nvSpPr>
        <p:spPr>
          <a:xfrm>
            <a:off x="3782853" y="2696527"/>
            <a:ext cx="4567618" cy="118948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850" b="1" i="0">
                <a:solidFill>
                  <a:srgbClr val="3A1801"/>
                </a:solidFill>
                <a:latin typeface="Noto Sans SC" panose="020B0500000000000000" charset="-122"/>
                <a:ea typeface="Noto Sans SC" panose="020B0500000000000000" charset="-122"/>
              </a:rPr>
              <a:t>感谢聆听</a:t>
            </a:r>
            <a:endParaRPr sz="8850" b="1" i="0">
              <a:solidFill>
                <a:srgbClr val="3A1801"/>
              </a:solidFill>
              <a:latin typeface="Noto Sans SC" panose="020B0500000000000000" charset="-122"/>
              <a:ea typeface="Noto Sans SC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1939</Words>
  <Application>WPS 演示</Application>
  <PresentationFormat/>
  <Paragraphs>352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汉仪锐智简</vt:lpstr>
      <vt:lpstr>苹方-简</vt:lpstr>
      <vt:lpstr>Arial</vt:lpstr>
      <vt:lpstr>Noto Sans SC</vt:lpstr>
      <vt:lpstr>Thonburi</vt:lpstr>
      <vt:lpstr>Noto Sans SC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Noto Sans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刘成军</cp:lastModifiedBy>
  <cp:revision>1</cp:revision>
  <dcterms:created xsi:type="dcterms:W3CDTF">2026-04-27T03:51:46Z</dcterms:created>
  <dcterms:modified xsi:type="dcterms:W3CDTF">2026-04-27T03:51:46Z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23F95EFED5E8F96752DDEE69ADAF2D0A_42</vt:lpwstr>
  </property>
  <property fmtid="{D5CDD505-2E9C-101B-9397-08002B2CF9AE}" pid="3" name="KSOProductBuildVer">
    <vt:lpwstr>2052-12.1.25867.25867</vt:lpwstr>
  </property>
</Properties>
</file>